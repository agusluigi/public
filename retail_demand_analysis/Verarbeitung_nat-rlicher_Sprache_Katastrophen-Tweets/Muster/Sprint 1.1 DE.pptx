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5143500" cx="9144000"/>
  <p:notesSz cx="5143500" cy="9144000"/>
  <p:embeddedFontLst>
    <p:embeddedFont>
      <p:font typeface="Roboto Mon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iDsBy+VKhJyjWSM1XztBP+tnMf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RobotoMono-bold.fntdata"/><Relationship Id="rId10" Type="http://schemas.openxmlformats.org/officeDocument/2006/relationships/slide" Target="slides/slide6.xml"/><Relationship Id="rId54" Type="http://schemas.openxmlformats.org/officeDocument/2006/relationships/font" Target="fonts/RobotoMono-regular.fntdata"/><Relationship Id="rId13" Type="http://schemas.openxmlformats.org/officeDocument/2006/relationships/slide" Target="slides/slide9.xml"/><Relationship Id="rId57" Type="http://schemas.openxmlformats.org/officeDocument/2006/relationships/font" Target="fonts/RobotoMono-boldItalic.fntdata"/><Relationship Id="rId12" Type="http://schemas.openxmlformats.org/officeDocument/2006/relationships/slide" Target="slides/slide8.xml"/><Relationship Id="rId56" Type="http://schemas.openxmlformats.org/officeDocument/2006/relationships/font" Target="fonts/RobotoMono-italic.fntdata"/><Relationship Id="rId15" Type="http://schemas.openxmlformats.org/officeDocument/2006/relationships/slide" Target="slides/slide11.xml"/><Relationship Id="rId14" Type="http://schemas.openxmlformats.org/officeDocument/2006/relationships/slide" Target="slides/slide10.xml"/><Relationship Id="rId58"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 name="Google Shape;20;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1200"/>
              </a:spcBef>
              <a:spcAft>
                <a:spcPts val="0"/>
              </a:spcAft>
              <a:buSzPts val="1000"/>
              <a:buChar char="-"/>
            </a:pPr>
            <a:r>
              <a:rPr lang="en-US" sz="1000">
                <a:latin typeface="Arial"/>
                <a:ea typeface="Arial"/>
                <a:cs typeface="Arial"/>
                <a:sym typeface="Arial"/>
              </a:rPr>
              <a:t>NLP is a specialized domain within Machine Learning that focuses on understanding, interpreting, and generating human language.</a:t>
            </a:r>
            <a:endParaRPr sz="1000">
              <a:latin typeface="Arial"/>
              <a:ea typeface="Arial"/>
              <a:cs typeface="Arial"/>
              <a:sym typeface="Arial"/>
            </a:endParaRPr>
          </a:p>
          <a:p>
            <a:pPr indent="0" lvl="0" marL="0" rtl="0" algn="l">
              <a:lnSpc>
                <a:spcPct val="115000"/>
              </a:lnSpc>
              <a:spcBef>
                <a:spcPts val="1200"/>
              </a:spcBef>
              <a:spcAft>
                <a:spcPts val="0"/>
              </a:spcAft>
              <a:buSzPts val="1400"/>
              <a:buNone/>
            </a:pPr>
            <a:r>
              <a:t/>
            </a:r>
            <a:endParaRPr sz="1100">
              <a:latin typeface="Arial"/>
              <a:ea typeface="Arial"/>
              <a:cs typeface="Arial"/>
              <a:sym typeface="Arial"/>
            </a:endParaRPr>
          </a:p>
          <a:p>
            <a:pPr indent="0" lvl="0" marL="457200" rtl="0" algn="l">
              <a:lnSpc>
                <a:spcPct val="100000"/>
              </a:lnSpc>
              <a:spcBef>
                <a:spcPts val="1200"/>
              </a:spcBef>
              <a:spcAft>
                <a:spcPts val="0"/>
              </a:spcAft>
              <a:buSzPts val="1400"/>
              <a:buNone/>
            </a:pPr>
            <a:r>
              <a:t/>
            </a:r>
            <a:endParaRPr/>
          </a:p>
        </p:txBody>
      </p:sp>
      <p:sp>
        <p:nvSpPr>
          <p:cNvPr id="26" name="Google Shape;26;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2e63b4b50a3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g2e63b4b50a3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1200"/>
              </a:spcBef>
              <a:spcAft>
                <a:spcPts val="0"/>
              </a:spcAft>
              <a:buSzPts val="1000"/>
              <a:buChar char="-"/>
            </a:pPr>
            <a:r>
              <a:rPr lang="en-US" sz="1000">
                <a:latin typeface="Arial"/>
                <a:ea typeface="Arial"/>
                <a:cs typeface="Arial"/>
                <a:sym typeface="Arial"/>
              </a:rPr>
              <a:t>NLP has evolved a lot since the begging of it until our time…</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Overall, the evolution of NLP showcases the journey from simple rule-based approaches to complex, data-driven models that harness the power of deep learning, continually pushing the boundaries of what machines can understand and generate in human language</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In the 1950s and 1960s, the field began with rule-based systems, laying the groundwork for basic AI.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The 1970s and 1980s saw the development of more sophisticated statistical models, marking a shift towards data-driven approaches.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In the 1990s and 2000s, the rise of machine learning techniques further transformed NLP.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Since the 2010s, the advent of deep learning and neural networks has revolutionized the field, dramatically enhancing the capabilities of NLP systems. </a:t>
            </a:r>
            <a:endParaRPr>
              <a:latin typeface="Arial"/>
              <a:ea typeface="Arial"/>
              <a:cs typeface="Arial"/>
              <a:sym typeface="Arial"/>
            </a:endParaRPr>
          </a:p>
        </p:txBody>
      </p:sp>
      <p:sp>
        <p:nvSpPr>
          <p:cNvPr id="34" name="Google Shape;34;g2e63b4b50a3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2e63b4b50a3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g2e63b4b50a3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latin typeface="Arial"/>
              <a:ea typeface="Arial"/>
              <a:cs typeface="Arial"/>
              <a:sym typeface="Arial"/>
            </a:endParaRPr>
          </a:p>
          <a:p>
            <a:pPr indent="-292100" lvl="0" marL="457200" rtl="0" algn="l">
              <a:lnSpc>
                <a:spcPct val="100000"/>
              </a:lnSpc>
              <a:spcBef>
                <a:spcPts val="0"/>
              </a:spcBef>
              <a:spcAft>
                <a:spcPts val="0"/>
              </a:spcAft>
              <a:buSzPts val="1000"/>
              <a:buFont typeface="Arial"/>
              <a:buChar char="-"/>
            </a:pPr>
            <a:r>
              <a:rPr lang="en-US" sz="1000">
                <a:latin typeface="Arial"/>
                <a:ea typeface="Arial"/>
                <a:cs typeface="Arial"/>
                <a:sym typeface="Arial"/>
              </a:rPr>
              <a:t>Here some examples…</a:t>
            </a:r>
            <a:endParaRPr sz="1000">
              <a:latin typeface="Arial"/>
              <a:ea typeface="Arial"/>
              <a:cs typeface="Arial"/>
              <a:sym typeface="Arial"/>
            </a:endParaRPr>
          </a:p>
        </p:txBody>
      </p:sp>
      <p:sp>
        <p:nvSpPr>
          <p:cNvPr id="41" name="Google Shape;41;g2e63b4b50a3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2e579a02176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g2e579a02176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Now we now what NLP is, let's see  some use cases. First: Human-computer interaction.</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Virtual Assistants: They employ NLP to understand queries and generate relevant responses, facilitating a conversational interface between users and technology.</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Chatbots: Utilize NLP to interact with users in customer service scenarios. </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Conversational AI: Use advanced NLP techniques to comprehend and generate human-like text responses. </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Speech-to-Text and Voice Control: Can transcribe spoken language in real-time into text, making communication more accessible for those with hearing impairments. </a:t>
            </a:r>
            <a:endParaRPr>
              <a:latin typeface="Arial"/>
              <a:ea typeface="Arial"/>
              <a:cs typeface="Arial"/>
              <a:sym typeface="Arial"/>
            </a:endParaRPr>
          </a:p>
        </p:txBody>
      </p:sp>
      <p:sp>
        <p:nvSpPr>
          <p:cNvPr id="48" name="Google Shape;48;g2e579a02176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89839d5e5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189839d5e5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Second: Automation.</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Document Processing: NLP technologies can analyze documents for relevant information, such as extracting payment details from invoices or identifying terms and conditions within contracts. </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Email Management: This reduces the time spent on email management and enhances productivity. </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Data Entry and Summarization: NLP algorithms can analyze text documents to pull out essential details, such as qualifications from resumes or key findings from research papers. </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Translation and Localization: Translation enables global communication and accessibility. Localization adapt  the content to fit cultural nuances and preferences, making it more relevant and relatable to target audiences.</a:t>
            </a:r>
            <a:endParaRPr>
              <a:latin typeface="Arial"/>
              <a:ea typeface="Arial"/>
              <a:cs typeface="Arial"/>
              <a:sym typeface="Arial"/>
            </a:endParaRPr>
          </a:p>
        </p:txBody>
      </p:sp>
      <p:sp>
        <p:nvSpPr>
          <p:cNvPr id="55" name="Google Shape;55;g3189839d5e5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89839d5e5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g3189839d5e5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00000"/>
              </a:lnSpc>
              <a:spcBef>
                <a:spcPts val="0"/>
              </a:spcBef>
              <a:spcAft>
                <a:spcPts val="0"/>
              </a:spcAft>
              <a:buSzPts val="1000"/>
              <a:buFont typeface="Arial"/>
              <a:buChar char="-"/>
            </a:pPr>
            <a:r>
              <a:rPr lang="en-US" sz="1000">
                <a:latin typeface="Arial"/>
                <a:ea typeface="Arial"/>
                <a:cs typeface="Arial"/>
                <a:sym typeface="Arial"/>
              </a:rPr>
              <a:t>Third: Insights.</a:t>
            </a:r>
            <a:endParaRPr sz="1000">
              <a:latin typeface="Arial"/>
              <a:ea typeface="Arial"/>
              <a:cs typeface="Arial"/>
              <a:sym typeface="Arial"/>
            </a:endParaRPr>
          </a:p>
          <a:p>
            <a:pPr indent="-292100" lvl="1" marL="914400" rtl="0" algn="l">
              <a:lnSpc>
                <a:spcPct val="100000"/>
              </a:lnSpc>
              <a:spcBef>
                <a:spcPts val="0"/>
              </a:spcBef>
              <a:spcAft>
                <a:spcPts val="0"/>
              </a:spcAft>
              <a:buSzPts val="1000"/>
              <a:buFont typeface="Arial"/>
              <a:buChar char="-"/>
            </a:pPr>
            <a:r>
              <a:rPr lang="en-US" sz="1000">
                <a:latin typeface="Arial"/>
                <a:ea typeface="Arial"/>
                <a:cs typeface="Arial"/>
                <a:sym typeface="Arial"/>
              </a:rPr>
              <a:t>Sentiment Analysis: For instance, analyzing tweets about a political event can provide insights into public sentiment regarding candidates or policies.</a:t>
            </a:r>
            <a:endParaRPr sz="1000">
              <a:latin typeface="Arial"/>
              <a:ea typeface="Arial"/>
              <a:cs typeface="Arial"/>
              <a:sym typeface="Arial"/>
            </a:endParaRPr>
          </a:p>
          <a:p>
            <a:pPr indent="-292100" lvl="1" marL="914400" rtl="0" algn="l">
              <a:lnSpc>
                <a:spcPct val="100000"/>
              </a:lnSpc>
              <a:spcBef>
                <a:spcPts val="0"/>
              </a:spcBef>
              <a:spcAft>
                <a:spcPts val="0"/>
              </a:spcAft>
              <a:buSzPts val="1000"/>
              <a:buFont typeface="Arial"/>
              <a:buChar char="-"/>
            </a:pPr>
            <a:r>
              <a:rPr lang="en-US" sz="1000">
                <a:latin typeface="Arial"/>
                <a:ea typeface="Arial"/>
                <a:cs typeface="Arial"/>
                <a:sym typeface="Arial"/>
              </a:rPr>
              <a:t>Trend Identification: By analyzing sentiment and frequency of discussions, companies can proactively address concerns and capitalize on emerging trends.</a:t>
            </a:r>
            <a:endParaRPr sz="1000">
              <a:latin typeface="Arial"/>
              <a:ea typeface="Arial"/>
              <a:cs typeface="Arial"/>
              <a:sym typeface="Arial"/>
            </a:endParaRPr>
          </a:p>
          <a:p>
            <a:pPr indent="-292100" lvl="1" marL="914400" rtl="0" algn="l">
              <a:lnSpc>
                <a:spcPct val="100000"/>
              </a:lnSpc>
              <a:spcBef>
                <a:spcPts val="0"/>
              </a:spcBef>
              <a:spcAft>
                <a:spcPts val="0"/>
              </a:spcAft>
              <a:buSzPts val="1000"/>
              <a:buFont typeface="Arial"/>
              <a:buChar char="-"/>
            </a:pPr>
            <a:r>
              <a:rPr lang="en-US" sz="1000">
                <a:latin typeface="Arial"/>
                <a:ea typeface="Arial"/>
                <a:cs typeface="Arial"/>
                <a:sym typeface="Arial"/>
              </a:rPr>
              <a:t>Market Research: This information helps organizations refine their strategies to enhance their position in the market, identify opportunities for growth, or benchmark their offerings against competitors' products and services.</a:t>
            </a:r>
            <a:endParaRPr sz="1000">
              <a:latin typeface="Arial"/>
              <a:ea typeface="Arial"/>
              <a:cs typeface="Arial"/>
              <a:sym typeface="Arial"/>
            </a:endParaRPr>
          </a:p>
          <a:p>
            <a:pPr indent="-292100" lvl="1" marL="914400" rtl="0" algn="l">
              <a:lnSpc>
                <a:spcPct val="100000"/>
              </a:lnSpc>
              <a:spcBef>
                <a:spcPts val="0"/>
              </a:spcBef>
              <a:spcAft>
                <a:spcPts val="0"/>
              </a:spcAft>
              <a:buSzPts val="1000"/>
              <a:buFont typeface="Arial"/>
              <a:buChar char="-"/>
            </a:pPr>
            <a:r>
              <a:rPr lang="en-US" sz="1000">
                <a:latin typeface="Arial"/>
                <a:ea typeface="Arial"/>
                <a:cs typeface="Arial"/>
                <a:sym typeface="Arial"/>
              </a:rPr>
              <a:t>Healthcare Insights: This analysis can help in recognizing prevalent health issues within specific populations, supporting clinical decision-making, and improving patient care through informed strategies based on derived insights.</a:t>
            </a:r>
            <a:endParaRPr/>
          </a:p>
        </p:txBody>
      </p:sp>
      <p:sp>
        <p:nvSpPr>
          <p:cNvPr id="62" name="Google Shape;62;g3189839d5e5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e63b4b50a3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g2e63b4b50a3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There are more applications of NLP, if you want you can check them by yourself…</a:t>
            </a:r>
            <a:endParaRPr/>
          </a:p>
        </p:txBody>
      </p:sp>
      <p:sp>
        <p:nvSpPr>
          <p:cNvPr id="69" name="Google Shape;69;g2e63b4b50a3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63b4b50a3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2e63b4b50a3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 name="Google Shape;76;g2e63b4b50a3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2c3cf94e98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32c3cf94e98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g32c3cf94e98_1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e63b4b50a3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2e63b4b50a3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Char char="-"/>
            </a:pPr>
            <a:r>
              <a:rPr lang="en-US" sz="1000">
                <a:latin typeface="Arial"/>
                <a:ea typeface="Arial"/>
                <a:cs typeface="Arial"/>
                <a:sym typeface="Arial"/>
              </a:rPr>
              <a:t>The pipeline of natural language processing (NLP) involves several interrelated steps that collectively contribute to the development of effective NLP models. The interaction among these steps is cyclical and iterative. Here’s an overview of how these steps interact…</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Data Acquisition: The quality and quantity of data collected here directly impact the success of subsequent steps in the pipeline.</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Annotation: Proper annotation is crucial for training models as it provides the ground truth for supervised learning algorithms. The accuracy of the annotations can influence model performance significantly</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Data Preprocessing: Effective preprocessing improves the data quality, ensuring that the algorithms can focus on the relevant linguistic features without noise. It sets the foundation for accurate feature extraction</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Feature Extraction: High-quality feature sets facilitate better model training, capturing intricate aspects of the text.</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Model Training: The model learns patterns in the training data, relying on the quality of the features and annotations. The effectiveness of model training determines the model's ability to generalize to new, unseen data</a:t>
            </a:r>
            <a:endParaRPr sz="1000">
              <a:latin typeface="Arial"/>
              <a:ea typeface="Arial"/>
              <a:cs typeface="Arial"/>
              <a:sym typeface="Arial"/>
            </a:endParaRPr>
          </a:p>
          <a:p>
            <a:pPr indent="-292100" lvl="1" marL="914400" rtl="0" algn="l">
              <a:lnSpc>
                <a:spcPct val="115000"/>
              </a:lnSpc>
              <a:spcBef>
                <a:spcPts val="0"/>
              </a:spcBef>
              <a:spcAft>
                <a:spcPts val="0"/>
              </a:spcAft>
              <a:buSzPts val="1000"/>
              <a:buFont typeface="Arial"/>
              <a:buChar char="-"/>
            </a:pPr>
            <a:r>
              <a:rPr lang="en-US" sz="1000">
                <a:latin typeface="Arial"/>
                <a:ea typeface="Arial"/>
                <a:cs typeface="Arial"/>
                <a:sym typeface="Arial"/>
              </a:rPr>
              <a:t>Model Evaluation:  The insights gleaned from evaluation inform whether the model meets the desired objectives or if additional adjustments are necessary, such as refining features, enhancing preprocessing steps, or tweaking the model architecture. </a:t>
            </a:r>
            <a:endParaRPr/>
          </a:p>
        </p:txBody>
      </p:sp>
      <p:sp>
        <p:nvSpPr>
          <p:cNvPr id="89" name="Google Shape;89;g2e63b4b50a3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2c3cf94e98_6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2c3cf94e98_6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g32c3cf94e98_6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189839d5e5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189839d5e5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en-US" sz="1000">
                <a:latin typeface="Arial"/>
                <a:ea typeface="Arial"/>
                <a:cs typeface="Arial"/>
                <a:sym typeface="Arial"/>
              </a:rPr>
              <a:t>A NLP project need data to process, first step then is Data Acquisition. There are different sources from where you can collect data and challenges associated to this.</a:t>
            </a:r>
            <a:endParaRPr sz="1000">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US" sz="1000">
                <a:latin typeface="Arial"/>
                <a:ea typeface="Arial"/>
                <a:cs typeface="Arial"/>
                <a:sym typeface="Arial"/>
              </a:rPr>
              <a:t>Web Scraping:  Utilizing automated tools to extract data from various online platforms, including blogs, forums, social media, and websites.</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Public Datasets: Utilizing open repositories that offer datasets for research and analysis purposes, such as those found on platforms like Kaggle, UCI Machine Learning Repository, and Hugging Face Datasets. </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APIs:  APIs allow for real-time data collection and are often structured, simplifying the analysis and integration process.</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Documents from Different Organizations: Accessing text data from reports, white papers, and publications released by various organizations. </a:t>
            </a:r>
            <a:endParaRPr sz="1000">
              <a:latin typeface="Arial"/>
              <a:ea typeface="Arial"/>
              <a:cs typeface="Arial"/>
              <a:sym typeface="Arial"/>
            </a:endParaRPr>
          </a:p>
          <a:p>
            <a:pPr indent="0" lvl="0" marL="0" rtl="0" algn="l">
              <a:lnSpc>
                <a:spcPct val="115000"/>
              </a:lnSpc>
              <a:spcBef>
                <a:spcPts val="1200"/>
              </a:spcBef>
              <a:spcAft>
                <a:spcPts val="0"/>
              </a:spcAft>
              <a:buSzPts val="1400"/>
              <a:buNone/>
            </a:pPr>
            <a:r>
              <a:rPr lang="en-US" sz="1000">
                <a:latin typeface="Arial"/>
                <a:ea typeface="Arial"/>
                <a:cs typeface="Arial"/>
                <a:sym typeface="Arial"/>
              </a:rPr>
              <a:t>Challenges in Collecting Text Data:</a:t>
            </a:r>
            <a:endParaRPr sz="1000">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US" sz="1000">
                <a:latin typeface="Arial"/>
                <a:ea typeface="Arial"/>
                <a:cs typeface="Arial"/>
                <a:sym typeface="Arial"/>
              </a:rPr>
              <a:t>Data Quality: While the quality is generally manageable, ensuring a clean, relevant dataset is crucial for accurate analysis and better results.</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Legal/Ethical Considerations: Adhering to legal frameworks such as GDPR and obtaining necessary permissions is critical to avoid legal repercussions and maintain ethical standards in data collection.</a:t>
            </a:r>
            <a:endParaRPr/>
          </a:p>
        </p:txBody>
      </p:sp>
      <p:sp>
        <p:nvSpPr>
          <p:cNvPr id="117" name="Google Shape;117;g3189839d5e5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189839d5e5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189839d5e5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0"/>
              </a:spcBef>
              <a:spcAft>
                <a:spcPts val="0"/>
              </a:spcAft>
              <a:buSzPts val="1400"/>
              <a:buNone/>
            </a:pPr>
            <a:r>
              <a:rPr lang="en-US" sz="1000">
                <a:latin typeface="Arial"/>
                <a:ea typeface="Arial"/>
                <a:cs typeface="Arial"/>
                <a:sym typeface="Arial"/>
              </a:rPr>
              <a:t>Annotation is the process of adding labels or tags to raw text data in order to create structured datasets that can be used for machine learning tasks.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This step is crucial in supervised learning settings, where models require labeled examples to learn patterns and make predictions.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Through annotation, unstructured text is transformed into a format that facilitates the training and evaluation of machine learning algorithms.</a:t>
            </a:r>
            <a:endParaRPr sz="1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Annotation types:</a:t>
            </a:r>
            <a:endParaRPr sz="1000">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US" sz="1000">
                <a:latin typeface="Arial"/>
                <a:ea typeface="Arial"/>
                <a:cs typeface="Arial"/>
                <a:sym typeface="Arial"/>
              </a:rPr>
              <a:t>Text Classification: Used in sentiment analysis for products or services, categorizing news articles, and identifying spam emails.</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Named Entity Recognition (NER): Involves identifying and classifying key entities in text, such as names of people, organizations, locations, dates, and other relevant terms. Used in information extraction, search engines, and to enhance chatbots by recognizing specific entities mentioned in conversations.</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Part-of-Speech (POS) Tagging: Involves assigning grammatical tags to individual words in a sentence, categorizing them as nouns, verbs, adjectives, adverbs, etc. Critical for understanding the syntactic structure of sentences, aiding in tasks like parsing, information retrieval, and improving the accuracy of other NLP applications.</a:t>
            </a:r>
            <a:endParaRPr>
              <a:latin typeface="Arial"/>
              <a:ea typeface="Arial"/>
              <a:cs typeface="Arial"/>
              <a:sym typeface="Arial"/>
            </a:endParaRPr>
          </a:p>
        </p:txBody>
      </p:sp>
      <p:sp>
        <p:nvSpPr>
          <p:cNvPr id="124" name="Google Shape;124;g3189839d5e5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89839d5e5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189839d5e5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en-US" sz="1000">
                <a:latin typeface="Arial"/>
                <a:ea typeface="Arial"/>
                <a:cs typeface="Arial"/>
                <a:sym typeface="Arial"/>
              </a:rPr>
              <a:t>Let’s see some annotation methods and challenges…</a:t>
            </a:r>
            <a:endParaRPr sz="1000">
              <a:latin typeface="Arial"/>
              <a:ea typeface="Arial"/>
              <a:cs typeface="Arial"/>
              <a:sym typeface="Arial"/>
            </a:endParaRPr>
          </a:p>
          <a:p>
            <a:pPr indent="-292100" lvl="0" marL="457200" rtl="0" algn="l">
              <a:lnSpc>
                <a:spcPct val="115000"/>
              </a:lnSpc>
              <a:spcBef>
                <a:spcPts val="1200"/>
              </a:spcBef>
              <a:spcAft>
                <a:spcPts val="0"/>
              </a:spcAft>
              <a:buSzPts val="1000"/>
              <a:buFont typeface="Arial"/>
              <a:buChar char="-"/>
            </a:pPr>
            <a:r>
              <a:rPr lang="en-US" sz="1000">
                <a:latin typeface="Arial"/>
                <a:ea typeface="Arial"/>
                <a:cs typeface="Arial"/>
                <a:sym typeface="Arial"/>
              </a:rPr>
              <a:t>Manual Annotation: This method involves human annotators who use specific tools to label the data. Annotators review the text and apply the appropriate labels or tags based on the guidelines provided. T</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Crowdsourcing: This method leverages online platforms to distribute annotation tasks to a large group of people, often resulting in a more extensive and diverse range of inputs.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Platforms Services: Services like Amazon Mechanical Turk and CrowdFlower (now known as Figure Eight) allow organizations to post annotation tasks that can be completed by distributed workers, which can expedite the annotation process and reduce costs.</a:t>
            </a:r>
            <a:endParaRPr sz="1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000">
                <a:latin typeface="Arial"/>
                <a:ea typeface="Arial"/>
                <a:cs typeface="Arial"/>
                <a:sym typeface="Arial"/>
              </a:rPr>
              <a:t>Challenges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Subjectivity in Labeling:  For example, one annotator might label a sentiment as positive while another may label it as neutral due to differing interpretations. High subjectivity can negatively affect the quality of the annotated dataset, which in turn impacts the performance of machine learning models trained on this data.</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Annotator Consistency: Inconsistencies can require additional rounds of quality checks and re-annotations, increasing the time and resources needed for the project.</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Cost and Time Requirements:  Budget constraints and project timelines may limit the scale of annotation efforts, forcing compromises on data quality or quantity.</a:t>
            </a:r>
            <a:endParaRPr/>
          </a:p>
        </p:txBody>
      </p:sp>
      <p:sp>
        <p:nvSpPr>
          <p:cNvPr id="131" name="Google Shape;131;g3189839d5e5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189839d5e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189839d5e5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g3189839d5e5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e63b4b50a3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2e63b4b50a3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Text preprocessing is a crucial initial step in natural language processing (NLP) that transforms raw text into a clean and structured format, making it suitable for analysis and modeling.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 Different machine learning models may require different preprocessing techniques based on their complexity.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Aligning preprocessing steps with the model type can enhance the model's ability to learn from data.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For example, simpler models may need extensive preprocessing to improve interpretation, while complex models like deep learning architectures (e.g., CNNs, LSTMs, Transformers) can often cope with less preprocessing due to their ability to learn hierarchical representations.</a:t>
            </a:r>
            <a:endParaRPr/>
          </a:p>
        </p:txBody>
      </p:sp>
      <p:sp>
        <p:nvSpPr>
          <p:cNvPr id="143" name="Google Shape;143;g2e63b4b50a3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63b4b50a3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2e63b4b50a3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latin typeface="Arial"/>
                <a:ea typeface="Arial"/>
                <a:cs typeface="Arial"/>
                <a:sym typeface="Arial"/>
              </a:rPr>
              <a:t>In a typical NLP problem, one expects to see the following techniques in the following order:</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1st. Text Cleaning (Task-specific): This initial step involves removing any unwanted characters, symbols, or irrelevant information from the text (e.g., HTML tags, special characters). It's tailored based on the specific requirements of the task, making it task-specific.</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2nd. Tokenization: After cleaning, the text is broken down into smaller units (tokens), such as words or sentences. This is an essential step that prepares the data for subsequent processing and analysis.</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3rd. Stop-Words Removal (Task-specific): In this step, common words that add little meaning (like "and," "the," "is") are removed from the tokens. Again, this decision can depend on the task; some tasks might still require these words to understand context better.</a:t>
            </a:r>
            <a:endParaRPr sz="1000">
              <a:latin typeface="Arial"/>
              <a:ea typeface="Arial"/>
              <a:cs typeface="Arial"/>
              <a:sym typeface="Arial"/>
            </a:endParaRPr>
          </a:p>
          <a:p>
            <a:pPr indent="0" lvl="0" marL="0" rtl="0" algn="l">
              <a:lnSpc>
                <a:spcPct val="115000"/>
              </a:lnSpc>
              <a:spcBef>
                <a:spcPts val="0"/>
              </a:spcBef>
              <a:spcAft>
                <a:spcPts val="0"/>
              </a:spcAft>
              <a:buSzPts val="14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4th. Stemming (Task-specific) / Lemmatization (Task-specific): Lastly, words can be reduced to their root forms using either stemming or lemmatization, depending on the needs of the task. Stemming is more about reducing words to their base forms, often resulting in non-dictionary terms, while lemmatization focuses on producing valid words based on their meanings.</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0" lvl="0" marL="0" rtl="0" algn="l">
              <a:lnSpc>
                <a:spcPct val="115000"/>
              </a:lnSpc>
              <a:spcBef>
                <a:spcPts val="0"/>
              </a:spcBef>
              <a:spcAft>
                <a:spcPts val="0"/>
              </a:spcAft>
              <a:buSzPts val="1100"/>
              <a:buNone/>
            </a:pPr>
            <a:r>
              <a:rPr lang="en-US" sz="1000">
                <a:latin typeface="Arial"/>
                <a:ea typeface="Arial"/>
                <a:cs typeface="Arial"/>
                <a:sym typeface="Arial"/>
              </a:rPr>
              <a:t>This list of steps  reflects the typical flow of preprocessing steps in NLP, while also emphasizing that certain techniques may be applied based on the specific requirements of the task at hand. This approach helps create a clean, structured dataset that fosters effective analysis and modeling.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150" name="Google Shape;150;g2e63b4b50a3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63b4b50a3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2e63b4b50a3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en-US" sz="1000">
                <a:latin typeface="Arial"/>
                <a:ea typeface="Arial"/>
                <a:cs typeface="Arial"/>
                <a:sym typeface="Arial"/>
              </a:rPr>
              <a:t>Text cleaning is an essential step within Preprocessing because it helps to standardize text data, preparing it for further analysis and modeling. By ensuring the text is in a consistent format, these techniques enable more effective natural language processing.</a:t>
            </a:r>
            <a:endParaRPr sz="1000">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US" sz="1000">
                <a:latin typeface="Arial"/>
                <a:ea typeface="Arial"/>
                <a:cs typeface="Arial"/>
                <a:sym typeface="Arial"/>
              </a:rPr>
              <a:t>Lowercasing the Data: This step involves converting all characters in the text to lowercase to ensure uniformity, as "The" and "the" would be treated as different words otherwise.</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Removing Punctuations: This step removes punctuation marks from the text, which may not contribute to the analysis, thus simplifying the data.</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Removing Numbers: This technique removes numerical values from the text, as they may not carry significant meaning for certain NLP tasks, helping to reduce noise.</a:t>
            </a:r>
            <a:endParaRPr sz="10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156" name="Google Shape;156;g2e63b4b50a3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e63b4b50a3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2e63b4b50a3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400"/>
              <a:buNone/>
            </a:pPr>
            <a:r>
              <a:rPr lang="en-US" sz="1000">
                <a:latin typeface="Arial"/>
                <a:ea typeface="Arial"/>
                <a:cs typeface="Arial"/>
                <a:sym typeface="Arial"/>
              </a:rPr>
              <a:t>Complement Material</a:t>
            </a:r>
            <a:endParaRPr sz="1000">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US" sz="1000">
                <a:latin typeface="Arial"/>
                <a:ea typeface="Arial"/>
                <a:cs typeface="Arial"/>
                <a:sym typeface="Arial"/>
              </a:rPr>
              <a:t>Removing Extra Space This step eliminates any unnecessary spaces before or after the text, as well as multiple consecutive spaces between words, ensuring a clean and uniform string.</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Removing Emojis: This technique removes emojis from the text, which may not be relevant for certain NLP analyses, thereby reducing noise and focusing on the textual content.</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Removing Emoticons: Similar to emoji removal, this step eliminates emoticons from the text to streamline analysis, as they may not provide substantial information in most NLP tasks.</a:t>
            </a:r>
            <a:endParaRPr sz="1000">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US" sz="1000">
                <a:latin typeface="Arial"/>
                <a:ea typeface="Arial"/>
                <a:cs typeface="Arial"/>
                <a:sym typeface="Arial"/>
              </a:rPr>
              <a:t>Removing Contractions: Contractions are expanded to their full forms (e.g., "can't" becomes "cannot") to enhance understanding and reduce ambiguity in language processing.</a:t>
            </a:r>
            <a:endParaRPr/>
          </a:p>
        </p:txBody>
      </p:sp>
      <p:sp>
        <p:nvSpPr>
          <p:cNvPr id="163" name="Google Shape;163;g2e63b4b50a3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e63b4b50a3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2e63b4b50a3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en-US" sz="1000">
                <a:latin typeface="Arial"/>
                <a:ea typeface="Arial"/>
                <a:cs typeface="Arial"/>
                <a:sym typeface="Arial"/>
              </a:rPr>
              <a:t>Tokenization is the process of breaking down text into individual units, known as tokens. This step is crucial for allowing machines to understand and process text by converting it into smaller, manageable entities. By chunking the text, models can analyze the components more effectively.</a:t>
            </a:r>
            <a:endParaRPr sz="1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Word Tokenization: This method involves splitting the text into individual words, typically by identifying spaces and punctuation marks.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Sentence Tokenization: In this approach, the text is divided into sentences based on punctuation marks such as periods, exclamation points, and question marks.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Sub-word Tokenization: This more advanced technique breaks words into smaller units, or sub-words, which can help with handling vocabulary issues and morphological variations in languages.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Character Tokenization: This method involves splitting text down to individual characters, which can be useful for certain applications such as language modeling or dealing with languages that have complex characters.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Tokenization is a fundamental text preprocessing step in NLP, enabling models to analyze text at various granular levels, be it words, sentences, sub-words, or characters. Choosing the appropriate type of tokenization depends on the specific requirements of the analysis or the machine learning model being used.</a:t>
            </a:r>
            <a:endParaRPr/>
          </a:p>
        </p:txBody>
      </p:sp>
      <p:sp>
        <p:nvSpPr>
          <p:cNvPr id="170" name="Google Shape;170;g2e63b4b50a3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e63b4b50a3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2e63b4b50a3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an example…</a:t>
            </a:r>
            <a:endParaRPr/>
          </a:p>
        </p:txBody>
      </p:sp>
      <p:sp>
        <p:nvSpPr>
          <p:cNvPr id="177" name="Google Shape;177;g2e63b4b50a3_0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e63b4b50a3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2e63b4b50a3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Stop words are common words in a language that generally do not carry substantial meaning on their own. These often include conjunctions, articles, and prepositions, such as "and," "the," "is," "in," and "on."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Removing stop words helps reduce the number of unique tokens in the dataset, simplifying the analysis and decreasing computational overhead. By eliminating these common words, the resulting dataset highlights more meaningful terms that contribute to the overall understanding of the text.</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Stop words removal is especially beneficial for lower-level models. While stop words removal is a common preprocessing technique in NLP to refine datasets and focus on meaningful content, its utility must be evaluated based on the complexity of the model being used. In many cases, advanced models may benefit from retaining stop words to capture more nuanced textual relationships.</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183" name="Google Shape;183;g2e63b4b50a3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e63b4b50a3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2e63b4b50a3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en-US" sz="1000">
                <a:latin typeface="Arial"/>
                <a:ea typeface="Arial"/>
                <a:cs typeface="Arial"/>
                <a:sym typeface="Arial"/>
              </a:rPr>
              <a:t>Stemming is the process of reducing words to their base or root form by removing suffixes (and sometimes prefixes). The goal of stemming is to normalize different forms of a word so that they can be treated as equivalent, allowing for more effective text analysis.</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0" lvl="0" marL="0" rtl="0" algn="l">
              <a:lnSpc>
                <a:spcPct val="115000"/>
              </a:lnSpc>
              <a:spcBef>
                <a:spcPts val="0"/>
              </a:spcBef>
              <a:spcAft>
                <a:spcPts val="0"/>
              </a:spcAft>
              <a:buSzPts val="1400"/>
              <a:buNone/>
            </a:pPr>
            <a:r>
              <a:rPr lang="en-US" sz="1000">
                <a:latin typeface="Arial"/>
                <a:ea typeface="Arial"/>
                <a:cs typeface="Arial"/>
                <a:sym typeface="Arial"/>
              </a:rPr>
              <a:t>There are several algorithms commonly used for stemming, including:</a:t>
            </a:r>
            <a:endParaRPr sz="1000">
              <a:latin typeface="Arial"/>
              <a:ea typeface="Arial"/>
              <a:cs typeface="Arial"/>
              <a:sym typeface="Arial"/>
            </a:endParaRPr>
          </a:p>
          <a:p>
            <a:pPr indent="-292100" lvl="0" marL="457200" rtl="0" algn="l">
              <a:lnSpc>
                <a:spcPct val="115000"/>
              </a:lnSpc>
              <a:spcBef>
                <a:spcPts val="1200"/>
              </a:spcBef>
              <a:spcAft>
                <a:spcPts val="0"/>
              </a:spcAft>
              <a:buSzPts val="1000"/>
              <a:buFont typeface="Arial"/>
              <a:buChar char="-"/>
            </a:pPr>
            <a:r>
              <a:rPr lang="en-US" sz="1000">
                <a:latin typeface="Arial"/>
                <a:ea typeface="Arial"/>
                <a:cs typeface="Arial"/>
                <a:sym typeface="Arial"/>
              </a:rPr>
              <a:t>Porter Stemmer: One of the most widely used stemming algorithms. It uses a series of heuristic rules to iteratively remove suffixes from words.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Snowball Stemmer: An improvement over the Porter Stemmer, it supports multiple languages and incorporates a more robust set of rules for suffix removal.</a:t>
            </a:r>
            <a:endParaRPr sz="1000">
              <a:latin typeface="Arial"/>
              <a:ea typeface="Arial"/>
              <a:cs typeface="Arial"/>
              <a:sym typeface="Arial"/>
            </a:endParaRPr>
          </a:p>
          <a:p>
            <a:pPr indent="0" lvl="0" marL="0" rtl="0" algn="l">
              <a:lnSpc>
                <a:spcPct val="115000"/>
              </a:lnSpc>
              <a:spcBef>
                <a:spcPts val="1200"/>
              </a:spcBef>
              <a:spcAft>
                <a:spcPts val="0"/>
              </a:spcAft>
              <a:buSzPts val="1400"/>
              <a:buNone/>
            </a:pPr>
            <a:r>
              <a:rPr lang="en-US" sz="1000">
                <a:latin typeface="Arial"/>
                <a:ea typeface="Arial"/>
                <a:cs typeface="Arial"/>
                <a:sym typeface="Arial"/>
              </a:rPr>
              <a:t>While stemming provides simplicity and performance benefits, it may sometimes lead to non-dictionary terms or truncations that are less interpretable, which is important to consider depending on the specific requirements of the analysis.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190" name="Google Shape;190;g2e63b4b50a3_0_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e63b4b50a3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2e63b4b50a3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The primary intuition behind stemming is to group together different morphological forms of a word so that they can be analyzed as a single unit. This is particularly beneficial in various NLP tasks, including:</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Search Engines: When a user searches for a term, stemming allows the search engine to retrieve all relevant documents containing different forms of that word, enhancing the search experience.</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Text Mining: By consolidating related terms, stemming allows for more effective analysis of text by reducing vocabulary size and focusing on core meanings.</a:t>
            </a:r>
            <a:endParaRPr sz="1000">
              <a:latin typeface="Arial"/>
              <a:ea typeface="Arial"/>
              <a:cs typeface="Arial"/>
              <a:sym typeface="Arial"/>
            </a:endParaRPr>
          </a:p>
          <a:p>
            <a:pPr indent="-292100" lvl="0" marL="914400" rtl="0" algn="l">
              <a:lnSpc>
                <a:spcPct val="115000"/>
              </a:lnSpc>
              <a:spcBef>
                <a:spcPts val="0"/>
              </a:spcBef>
              <a:spcAft>
                <a:spcPts val="0"/>
              </a:spcAft>
              <a:buSzPts val="1000"/>
              <a:buFont typeface="Arial"/>
              <a:buChar char="-"/>
            </a:pPr>
            <a:r>
              <a:rPr lang="en-US" sz="1000">
                <a:latin typeface="Arial"/>
                <a:ea typeface="Arial"/>
                <a:cs typeface="Arial"/>
                <a:sym typeface="Arial"/>
              </a:rPr>
              <a:t>Information Retrieval: Stemming helps improve retrieval accuracy by ensuring that all variants of a term are treated as equivalent, ensuring comprehensive results.</a:t>
            </a:r>
            <a:endParaRPr sz="1000">
              <a:latin typeface="Arial"/>
              <a:ea typeface="Arial"/>
              <a:cs typeface="Arial"/>
              <a:sym typeface="Arial"/>
            </a:endParaRPr>
          </a:p>
          <a:p>
            <a:pPr indent="0" lvl="0" marL="0" rtl="0" algn="l">
              <a:lnSpc>
                <a:spcPct val="115000"/>
              </a:lnSpc>
              <a:spcBef>
                <a:spcPts val="0"/>
              </a:spcBef>
              <a:spcAft>
                <a:spcPts val="0"/>
              </a:spcAft>
              <a:buSzPts val="14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For less sophisticated models that may not effectively capture the nuanced meanings of language, retaining multiple forms of the same word (e.g., "running," "ran," and "runner") could lead to diluted analysis. By focusing on the stem, which represents the core concept, we simplify the data while still conveying key information.</a:t>
            </a:r>
            <a:endParaRPr sz="1000">
              <a:latin typeface="Arial"/>
              <a:ea typeface="Arial"/>
              <a:cs typeface="Arial"/>
              <a:sym typeface="Arial"/>
            </a:endParaRPr>
          </a:p>
          <a:p>
            <a:pPr indent="0" lvl="0" marL="0" rtl="0" algn="l">
              <a:lnSpc>
                <a:spcPct val="115000"/>
              </a:lnSpc>
              <a:spcBef>
                <a:spcPts val="0"/>
              </a:spcBef>
              <a:spcAft>
                <a:spcPts val="0"/>
              </a:spcAft>
              <a:buSzPts val="14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Stemming is a practical NLP approach that aids in grouping different forms of a word to facilitate analysis. By focusing on the stem, simpler models can avoid complications arising from variations in language, ultimately leading to more effective outcomes in text processing tasks.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197" name="Google Shape;197;g2e63b4b50a3_0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e63b4b50a3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2e63b4b50a3_0_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Lemmatization is the process of reducing words to their base or dictionary form (lemma), taking into account the context and meaning of the words. It uses a more sophisticated approach compared to stemming, often relying on vocabulary and morphological analysis of words.</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a:p>
        </p:txBody>
      </p:sp>
      <p:sp>
        <p:nvSpPr>
          <p:cNvPr id="203" name="Google Shape;203;g2e63b4b50a3_0_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e63b4b50a3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2e63b4b50a3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1200"/>
              </a:spcBef>
              <a:spcAft>
                <a:spcPts val="0"/>
              </a:spcAft>
              <a:buSzPts val="1000"/>
              <a:buFont typeface="Arial"/>
              <a:buChar char="-"/>
            </a:pPr>
            <a:r>
              <a:rPr lang="en-US" sz="1000">
                <a:latin typeface="Arial"/>
                <a:ea typeface="Arial"/>
                <a:cs typeface="Arial"/>
                <a:sym typeface="Arial"/>
              </a:rPr>
              <a:t>Lemmatization is generally more accurate than stemming because it considers the word's context and its meaning, ensuring that the output is a valid word.</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Lemmatization tends to be computationally heavier than stemming, as it often requires a lookup in a dictionary or lexical database to determine the correct base form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210" name="Google Shape;210;g2e63b4b50a3_0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63b4b50a3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2e63b4b50a3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2e63b4b50a3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e63b4b50a3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2e63b4b50a3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2e63b4b50a3_0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e63b4b50a3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2e63b4b50a3_0_2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After preprocessing the data we can transform the raw data into numerical features…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Vectorization is a key concept in this step…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30" name="Google Shape;230;g2e63b4b50a3_0_2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2c3cf94e98_6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2c3cf94e98_6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32c3cf94e98_6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63b4b50a3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2e63b4b50a3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There are various techniques for vectorizing such preprocessed texts:</a:t>
            </a:r>
            <a:endParaRPr sz="1000">
              <a:latin typeface="Arial"/>
              <a:ea typeface="Arial"/>
              <a:cs typeface="Arial"/>
              <a:sym typeface="Arial"/>
            </a:endParaRPr>
          </a:p>
          <a:p>
            <a:pPr indent="-292100" lvl="0" marL="457200" rtl="0" algn="l">
              <a:lnSpc>
                <a:spcPct val="115000"/>
              </a:lnSpc>
              <a:spcBef>
                <a:spcPts val="1200"/>
              </a:spcBef>
              <a:spcAft>
                <a:spcPts val="0"/>
              </a:spcAft>
              <a:buSzPts val="1000"/>
              <a:buFont typeface="Arial"/>
              <a:buChar char="-"/>
            </a:pPr>
            <a:r>
              <a:rPr lang="en-US" sz="1000">
                <a:latin typeface="Arial"/>
                <a:ea typeface="Arial"/>
                <a:cs typeface="Arial"/>
                <a:sym typeface="Arial"/>
              </a:rPr>
              <a:t>Bag-of-Words (BoW) represents text by counting the frequency of each word in a document while ignoring the order. Each unique word corresponds to a dimension in a feature vector, and the vector consists of counts or binary indicators of the presence of words.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TF-IDF weighs the frequency of words in a document by how often they appear across all documents, highlighting words that are more informative. Similar to BoW, but instead of raw counts, the vectors contain values calculated based on the TF-IDF formula, providing a more nuanced representation of text documents.</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Word Embeddings: Techniques like Word2Vec, GloVe, and FastText create dense vector representations of words based on their contexts. Words with similar meanings have similar vector representations.Each word is represented as a dense vector, often in a lower-dimensional space compared to the sparse representations of BoW or TF-IDF.</a:t>
            </a:r>
            <a:endParaRPr sz="1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000">
                <a:latin typeface="Arial"/>
                <a:ea typeface="Arial"/>
                <a:cs typeface="Arial"/>
                <a:sym typeface="Arial"/>
              </a:rPr>
              <a:t>The choice of technique depends on the task, data characteristics, and the complexity of the model being employed.</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a:latin typeface="Arial"/>
              <a:ea typeface="Arial"/>
              <a:cs typeface="Arial"/>
              <a:sym typeface="Arial"/>
            </a:endParaRPr>
          </a:p>
        </p:txBody>
      </p:sp>
      <p:sp>
        <p:nvSpPr>
          <p:cNvPr id="244" name="Google Shape;244;g2e63b4b50a3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c3cf94e98_6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2c3cf94e98_6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400">
              <a:latin typeface="Arial"/>
              <a:ea typeface="Arial"/>
              <a:cs typeface="Arial"/>
              <a:sym typeface="Arial"/>
            </a:endParaRPr>
          </a:p>
        </p:txBody>
      </p:sp>
      <p:sp>
        <p:nvSpPr>
          <p:cNvPr id="251" name="Google Shape;251;g32c3cf94e98_6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2c3cf94e98_6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2c3cf94e98_6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The Bag-of-Words model effectively represents text data by counting the frequency of each word in a sample, creating a structured numerical representation that can be used for various machine learning tasks.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The result is a feature matrix where each row corresponds to a document and each column corresponds to a unique word from the corpus. By using this representation, models can analyze and recognize patterns in the text data based on word occurrences.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sz="1400">
              <a:latin typeface="Arial"/>
              <a:ea typeface="Arial"/>
              <a:cs typeface="Arial"/>
              <a:sym typeface="Arial"/>
            </a:endParaRPr>
          </a:p>
        </p:txBody>
      </p:sp>
      <p:sp>
        <p:nvSpPr>
          <p:cNvPr id="259" name="Google Shape;259;g32c3cf94e98_6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e63b4b50a3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2e63b4b50a3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2e63b4b50a3_0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e63b4b50a3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2e63b4b50a3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2e63b4b50a3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e63b4b50a3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2e63b4b50a3_0_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84" name="Google Shape;284;g2e63b4b50a3_0_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63b4b50a3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2e63b4b50a3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g2e63b4b50a3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2c3cf94e98_6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2c3cf94e98_6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We can also use TF-IDF in order to extract features…</a:t>
            </a:r>
            <a:endParaRPr sz="1000">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TF-IDF works quantifying the importance of a word in a document relative to a collection of documents, emphasizing unique words in specific texts while penalizing common ones. Allowing for the identification of relevant features in text data that can improve tasks such as information retrieval, text classification, and natural language processing by focusing on terms that contribute most meaningfully to the content.</a:t>
            </a:r>
            <a:endParaRPr sz="1000">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04" name="Google Shape;304;g32c3cf94e98_6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63b4b50a3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e63b4b50a3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The role of Term Frequency (TF) in Inverse Document Frequency (IDF) is to measure how often a word appears in a specific document relative to the total number of words in that document.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TF provides a normalized count of the word's frequency, helping to capture its significance within that context. </a:t>
            </a:r>
            <a:endParaRPr sz="1000">
              <a:latin typeface="Arial"/>
              <a:ea typeface="Arial"/>
              <a:cs typeface="Arial"/>
              <a:sym typeface="Arial"/>
            </a:endParaRPr>
          </a:p>
          <a:p>
            <a:pPr indent="0" lvl="0" marL="0" rtl="0" algn="l">
              <a:lnSpc>
                <a:spcPct val="115000"/>
              </a:lnSpc>
              <a:spcBef>
                <a:spcPts val="0"/>
              </a:spcBef>
              <a:spcAft>
                <a:spcPts val="0"/>
              </a:spcAft>
              <a:buSzPts val="1100"/>
              <a:buNone/>
            </a:pPr>
            <a:r>
              <a:t/>
            </a:r>
            <a:endParaRPr sz="1000">
              <a:latin typeface="Arial"/>
              <a:ea typeface="Arial"/>
              <a:cs typeface="Arial"/>
              <a:sym typeface="Arial"/>
            </a:endParaRPr>
          </a:p>
          <a:p>
            <a:pPr indent="-292100" lvl="0" marL="457200" rtl="0" algn="l">
              <a:lnSpc>
                <a:spcPct val="115000"/>
              </a:lnSpc>
              <a:spcBef>
                <a:spcPts val="0"/>
              </a:spcBef>
              <a:spcAft>
                <a:spcPts val="0"/>
              </a:spcAft>
              <a:buSzPts val="1000"/>
              <a:buFont typeface="Arial"/>
              <a:buChar char="-"/>
            </a:pPr>
            <a:r>
              <a:rPr lang="en-US" sz="1000">
                <a:latin typeface="Arial"/>
                <a:ea typeface="Arial"/>
                <a:cs typeface="Arial"/>
                <a:sym typeface="Arial"/>
              </a:rPr>
              <a:t>This value, when multiplied by IDF, helps determine a term's overall importance in distinguishing that document from others in the corpus, enabling a more nuanced understanding of the content's relevance.</a:t>
            </a:r>
            <a:endParaRPr sz="10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311" name="Google Shape;311;g2e63b4b50a3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e63b4b50a3_0_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2e63b4b50a3_0_2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e63b4b50a3_0_2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e63b4b50a3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2e63b4b50a3_0_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2e63b4b50a3_0_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e63b4b50a3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2e63b4b50a3_0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g2e63b4b50a3_0_2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e63b4b50a3_0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2e63b4b50a3_0_3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g2e63b4b50a3_0_3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e63b4b50a3_0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2e63b4b50a3_0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lang="en-US"/>
              <a:t>The role of Inverse Document Frequency (IDF) in TF-IDF is to assess how important a term is across the entire corpus of documents.</a:t>
            </a:r>
            <a:endParaRPr/>
          </a:p>
          <a:p>
            <a:pPr indent="0" lvl="0" marL="0" rtl="0" algn="l">
              <a:lnSpc>
                <a:spcPct val="115000"/>
              </a:lnSpc>
              <a:spcBef>
                <a:spcPts val="0"/>
              </a:spcBef>
              <a:spcAft>
                <a:spcPts val="0"/>
              </a:spcAft>
              <a:buSzPts val="1100"/>
              <a:buNone/>
            </a:pPr>
            <a:r>
              <a:t/>
            </a:r>
            <a:endParaRPr/>
          </a:p>
          <a:p>
            <a:pPr indent="-317500" lvl="0" marL="457200" rtl="0" algn="l">
              <a:lnSpc>
                <a:spcPct val="115000"/>
              </a:lnSpc>
              <a:spcBef>
                <a:spcPts val="0"/>
              </a:spcBef>
              <a:spcAft>
                <a:spcPts val="0"/>
              </a:spcAft>
              <a:buSzPts val="1400"/>
              <a:buChar char="-"/>
            </a:pPr>
            <a:r>
              <a:rPr lang="en-US"/>
              <a:t>It does this by measuring the rarity of the term: a high IDF value indicates that the term is rare and therefore likely to provide more informational value, while a low IDF value suggests the term is common and may not significantly contribute to distinguishing one document from another. </a:t>
            </a:r>
            <a:endParaRPr/>
          </a:p>
          <a:p>
            <a:pPr indent="0" lvl="0" marL="0" rtl="0" algn="l">
              <a:lnSpc>
                <a:spcPct val="115000"/>
              </a:lnSpc>
              <a:spcBef>
                <a:spcPts val="0"/>
              </a:spcBef>
              <a:spcAft>
                <a:spcPts val="0"/>
              </a:spcAft>
              <a:buSzPts val="1100"/>
              <a:buNone/>
            </a:pPr>
            <a:r>
              <a:t/>
            </a:r>
            <a:endParaRPr/>
          </a:p>
          <a:p>
            <a:pPr indent="-317500" lvl="0" marL="457200" rtl="0" algn="l">
              <a:lnSpc>
                <a:spcPct val="115000"/>
              </a:lnSpc>
              <a:spcBef>
                <a:spcPts val="0"/>
              </a:spcBef>
              <a:spcAft>
                <a:spcPts val="0"/>
              </a:spcAft>
              <a:buSzPts val="1400"/>
              <a:buChar char="-"/>
            </a:pPr>
            <a:r>
              <a:rPr lang="en-US"/>
              <a:t>By incorporating IDF, TF-IDF balances the term frequency with its overall significance in the dataset, enhancing the ability to identify meaningful features in the text.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350" name="Google Shape;350;g2e63b4b50a3_0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e63b4b50a3_0_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2e63b4b50a3_0_3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2e63b4b50a3_0_3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e63b4b50a3_0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2e63b4b50a3_0_3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2e63b4b50a3_0_3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e63b4b50a3_0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2e63b4b50a3_0_3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2e63b4b50a3_0_3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3325"/>
        </a:solidFill>
      </p:bgPr>
    </p:bg>
    <p:spTree>
      <p:nvGrpSpPr>
        <p:cNvPr id="15" name="Shape 15"/>
        <p:cNvGrpSpPr/>
        <p:nvPr/>
      </p:nvGrpSpPr>
      <p:grpSpPr>
        <a:xfrm>
          <a:off x="0" y="0"/>
          <a:ext cx="0" cy="0"/>
          <a:chOff x="0" y="0"/>
          <a:chExt cx="0" cy="0"/>
        </a:xfrm>
      </p:grpSpPr>
      <p:sp>
        <p:nvSpPr>
          <p:cNvPr id="16" name="Google Shape;16;p2"/>
          <p:cNvSpPr/>
          <p:nvPr/>
        </p:nvSpPr>
        <p:spPr>
          <a:xfrm>
            <a:off x="1632450" y="1574549"/>
            <a:ext cx="5584500" cy="1994400"/>
          </a:xfrm>
          <a:prstGeom prst="rect">
            <a:avLst/>
          </a:prstGeom>
          <a:noFill/>
          <a:ln>
            <a:noFill/>
          </a:ln>
        </p:spPr>
        <p:txBody>
          <a:bodyPr anchorCtr="0" anchor="ctr" bIns="0" lIns="0" spcFirstLastPara="1" rIns="0" wrap="square" tIns="0">
            <a:noAutofit/>
          </a:bodyPr>
          <a:lstStyle/>
          <a:p>
            <a:pPr indent="0" lvl="0" marL="0" marR="0" rtl="0" algn="ctr">
              <a:lnSpc>
                <a:spcPct val="129058"/>
              </a:lnSpc>
              <a:spcBef>
                <a:spcPts val="0"/>
              </a:spcBef>
              <a:spcAft>
                <a:spcPts val="0"/>
              </a:spcAft>
              <a:buClr>
                <a:srgbClr val="000000"/>
              </a:buClr>
              <a:buSzPts val="3400"/>
              <a:buFont typeface="Arial"/>
              <a:buNone/>
            </a:pPr>
            <a:r>
              <a:rPr lang="en-US" sz="3400">
                <a:solidFill>
                  <a:srgbClr val="FFFFFF"/>
                </a:solidFill>
              </a:rPr>
              <a:t>NLP Überblick &amp; Grundlagen</a:t>
            </a:r>
            <a:endParaRPr b="0" i="0" sz="34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75F6E"/>
        </a:solidFill>
      </p:bgPr>
    </p:bg>
    <p:spTree>
      <p:nvGrpSpPr>
        <p:cNvPr id="21" name="Shape 21"/>
        <p:cNvGrpSpPr/>
        <p:nvPr/>
      </p:nvGrpSpPr>
      <p:grpSpPr>
        <a:xfrm>
          <a:off x="0" y="0"/>
          <a:ext cx="0" cy="0"/>
          <a:chOff x="0" y="0"/>
          <a:chExt cx="0" cy="0"/>
        </a:xfrm>
      </p:grpSpPr>
      <p:sp>
        <p:nvSpPr>
          <p:cNvPr id="22" name="Google Shape;22;p9"/>
          <p:cNvSpPr/>
          <p:nvPr/>
        </p:nvSpPr>
        <p:spPr>
          <a:xfrm>
            <a:off x="1685025" y="2195400"/>
            <a:ext cx="5248200" cy="7527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chemeClr val="dk1"/>
              </a:buClr>
              <a:buSzPts val="1100"/>
              <a:buFont typeface="Arial"/>
              <a:buNone/>
            </a:pPr>
            <a:r>
              <a:rPr lang="en-US" sz="3400">
                <a:solidFill>
                  <a:srgbClr val="FFFFFF"/>
                </a:solidFill>
              </a:rPr>
              <a:t>Einführung in NLP</a:t>
            </a:r>
            <a:endParaRPr b="0" i="0" sz="34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7" name="Shape 27"/>
        <p:cNvGrpSpPr/>
        <p:nvPr/>
      </p:nvGrpSpPr>
      <p:grpSpPr>
        <a:xfrm>
          <a:off x="0" y="0"/>
          <a:ext cx="0" cy="0"/>
          <a:chOff x="0" y="0"/>
          <a:chExt cx="0" cy="0"/>
        </a:xfrm>
      </p:grpSpPr>
      <p:sp>
        <p:nvSpPr>
          <p:cNvPr id="28" name="Google Shape;28;p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Was ist NLP?</a:t>
            </a:r>
            <a:endParaRPr b="0" i="0" sz="2300" u="none" cap="none" strike="noStrike">
              <a:solidFill>
                <a:srgbClr val="000000"/>
              </a:solidFill>
              <a:latin typeface="Arial"/>
              <a:ea typeface="Arial"/>
              <a:cs typeface="Arial"/>
              <a:sym typeface="Arial"/>
            </a:endParaRPr>
          </a:p>
        </p:txBody>
      </p:sp>
      <p:sp>
        <p:nvSpPr>
          <p:cNvPr id="29" name="Google Shape;29;p6"/>
          <p:cNvSpPr txBox="1"/>
          <p:nvPr/>
        </p:nvSpPr>
        <p:spPr>
          <a:xfrm>
            <a:off x="4314025" y="1169975"/>
            <a:ext cx="4476000" cy="3030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US">
                <a:solidFill>
                  <a:schemeClr val="dk1"/>
                </a:solidFill>
              </a:rPr>
              <a:t>NLP ist ein spezieller Bereich im Machine Learning, der sich darauf konzentriert, menschliche Sprache zu verstehen, zu interpretieren und zu erzeugen.</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NLP überbrückt die Kluft zwischen menschlicher Kommunikation und Computerverständnis, indem es Interaktionen durch natürliche Sprache ermöglicht.</a:t>
            </a:r>
            <a:endParaRPr>
              <a:solidFill>
                <a:schemeClr val="dk1"/>
              </a:solidFill>
            </a:endParaRPr>
          </a:p>
          <a:p>
            <a:pPr indent="-317500" lvl="0" marL="457200" marR="0" rtl="0" algn="l">
              <a:lnSpc>
                <a:spcPct val="100000"/>
              </a:lnSpc>
              <a:spcBef>
                <a:spcPts val="0"/>
              </a:spcBef>
              <a:spcAft>
                <a:spcPts val="0"/>
              </a:spcAft>
              <a:buClr>
                <a:schemeClr val="dk1"/>
              </a:buClr>
              <a:buSzPts val="1400"/>
              <a:buChar char="●"/>
            </a:pPr>
            <a:r>
              <a:rPr lang="en-US">
                <a:solidFill>
                  <a:schemeClr val="dk1"/>
                </a:solidFill>
              </a:rPr>
              <a:t>Das ultimative Ziel von NLP ist es, Computer zu befähigen, menschliche Sprache auf bedeutungsvolle und kontextuell passende Weise zu verarbeiten, zu verstehen und zu beantworten.</a:t>
            </a:r>
            <a:endParaRPr>
              <a:solidFill>
                <a:schemeClr val="dk1"/>
              </a:solidFill>
            </a:endParaRPr>
          </a:p>
        </p:txBody>
      </p:sp>
      <p:pic>
        <p:nvPicPr>
          <p:cNvPr id="30" name="Google Shape;30;p6"/>
          <p:cNvPicPr preferRelativeResize="0"/>
          <p:nvPr/>
        </p:nvPicPr>
        <p:blipFill rotWithShape="1">
          <a:blip r:embed="rId3">
            <a:alphaModFix/>
          </a:blip>
          <a:srcRect b="0" l="0" r="0" t="0"/>
          <a:stretch/>
        </p:blipFill>
        <p:spPr>
          <a:xfrm>
            <a:off x="365349" y="1169975"/>
            <a:ext cx="3691299" cy="2338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5" name="Shape 35"/>
        <p:cNvGrpSpPr/>
        <p:nvPr/>
      </p:nvGrpSpPr>
      <p:grpSpPr>
        <a:xfrm>
          <a:off x="0" y="0"/>
          <a:ext cx="0" cy="0"/>
          <a:chOff x="0" y="0"/>
          <a:chExt cx="0" cy="0"/>
        </a:xfrm>
      </p:grpSpPr>
      <p:sp>
        <p:nvSpPr>
          <p:cNvPr id="36" name="Google Shape;36;g2e63b4b50a3_0_2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Kurze Geschichte von NLP</a:t>
            </a:r>
            <a:endParaRPr b="0" i="0" sz="2300" u="none" cap="none" strike="noStrike">
              <a:solidFill>
                <a:srgbClr val="000000"/>
              </a:solidFill>
              <a:latin typeface="Arial"/>
              <a:ea typeface="Arial"/>
              <a:cs typeface="Arial"/>
              <a:sym typeface="Arial"/>
            </a:endParaRPr>
          </a:p>
        </p:txBody>
      </p:sp>
      <p:sp>
        <p:nvSpPr>
          <p:cNvPr id="37" name="Google Shape;37;g2e63b4b50a3_0_26"/>
          <p:cNvSpPr txBox="1"/>
          <p:nvPr/>
        </p:nvSpPr>
        <p:spPr>
          <a:xfrm>
            <a:off x="769650" y="1272650"/>
            <a:ext cx="7604700" cy="2686500"/>
          </a:xfrm>
          <a:prstGeom prst="rect">
            <a:avLst/>
          </a:prstGeom>
          <a:noFill/>
          <a:ln>
            <a:noFill/>
          </a:ln>
        </p:spPr>
        <p:txBody>
          <a:bodyPr anchorCtr="0" anchor="t" bIns="91425" lIns="91425" spcFirstLastPara="1" rIns="91425" wrap="square" tIns="91425">
            <a:noAutofit/>
          </a:bodyPr>
          <a:lstStyle/>
          <a:p>
            <a:pPr indent="0" lvl="0" marL="457200" rtl="0" algn="l">
              <a:spcBef>
                <a:spcPts val="1200"/>
              </a:spcBef>
              <a:spcAft>
                <a:spcPts val="0"/>
              </a:spcAft>
              <a:buClr>
                <a:schemeClr val="dk1"/>
              </a:buClr>
              <a:buSzPts val="1100"/>
              <a:buFont typeface="Arial"/>
              <a:buNone/>
            </a:pPr>
            <a:r>
              <a:rPr b="1" lang="en-US">
                <a:solidFill>
                  <a:schemeClr val="dk1"/>
                </a:solidFill>
              </a:rPr>
              <a:t>1950er-1960er: </a:t>
            </a:r>
            <a:r>
              <a:rPr lang="en-US">
                <a:solidFill>
                  <a:schemeClr val="dk1"/>
                </a:solidFill>
              </a:rPr>
              <a:t>Regelbasierte Systeme und frühe KI</a:t>
            </a:r>
            <a:endParaRPr>
              <a:solidFill>
                <a:schemeClr val="dk1"/>
              </a:solidFill>
            </a:endParaRPr>
          </a:p>
          <a:p>
            <a:pPr indent="0" lvl="0" marL="457200" rtl="0" algn="l">
              <a:spcBef>
                <a:spcPts val="1200"/>
              </a:spcBef>
              <a:spcAft>
                <a:spcPts val="0"/>
              </a:spcAft>
              <a:buClr>
                <a:schemeClr val="dk1"/>
              </a:buClr>
              <a:buSzPts val="1100"/>
              <a:buFont typeface="Arial"/>
              <a:buNone/>
            </a:pPr>
            <a:r>
              <a:rPr b="1" lang="en-US">
                <a:solidFill>
                  <a:schemeClr val="dk1"/>
                </a:solidFill>
              </a:rPr>
              <a:t>1970er-1980er: </a:t>
            </a:r>
            <a:r>
              <a:rPr lang="en-US">
                <a:solidFill>
                  <a:schemeClr val="dk1"/>
                </a:solidFill>
              </a:rPr>
              <a:t>Entwicklung ausgefeilterer statistischer Modelle</a:t>
            </a:r>
            <a:endParaRPr>
              <a:solidFill>
                <a:schemeClr val="dk1"/>
              </a:solidFill>
            </a:endParaRPr>
          </a:p>
          <a:p>
            <a:pPr indent="0" lvl="0" marL="457200" rtl="0" algn="l">
              <a:spcBef>
                <a:spcPts val="1200"/>
              </a:spcBef>
              <a:spcAft>
                <a:spcPts val="0"/>
              </a:spcAft>
              <a:buClr>
                <a:schemeClr val="dk1"/>
              </a:buClr>
              <a:buSzPts val="1100"/>
              <a:buFont typeface="Arial"/>
              <a:buNone/>
            </a:pPr>
            <a:r>
              <a:rPr b="1" lang="en-US">
                <a:solidFill>
                  <a:schemeClr val="dk1"/>
                </a:solidFill>
              </a:rPr>
              <a:t>1990er-2000er:</a:t>
            </a:r>
            <a:r>
              <a:rPr lang="en-US">
                <a:solidFill>
                  <a:schemeClr val="dk1"/>
                </a:solidFill>
              </a:rPr>
              <a:t> Aufstieg der Machine Learning Techniken</a:t>
            </a:r>
            <a:endParaRPr>
              <a:solidFill>
                <a:schemeClr val="dk1"/>
              </a:solidFill>
            </a:endParaRPr>
          </a:p>
          <a:p>
            <a:pPr indent="0" lvl="0" marL="457200" marR="0" rtl="0" algn="l">
              <a:lnSpc>
                <a:spcPct val="100000"/>
              </a:lnSpc>
              <a:spcBef>
                <a:spcPts val="1200"/>
              </a:spcBef>
              <a:spcAft>
                <a:spcPts val="0"/>
              </a:spcAft>
              <a:buClr>
                <a:srgbClr val="000000"/>
              </a:buClr>
              <a:buSzPts val="1400"/>
              <a:buFont typeface="Arial"/>
              <a:buNone/>
            </a:pPr>
            <a:r>
              <a:rPr b="1" lang="en-US">
                <a:solidFill>
                  <a:schemeClr val="dk1"/>
                </a:solidFill>
              </a:rPr>
              <a:t>2010er-heute: </a:t>
            </a:r>
            <a:r>
              <a:rPr lang="en-US">
                <a:solidFill>
                  <a:schemeClr val="dk1"/>
                </a:solidFill>
              </a:rPr>
              <a:t>Deep Learning und neuronale Netze revolutionieren NLP</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42" name="Shape 42"/>
        <p:cNvGrpSpPr/>
        <p:nvPr/>
      </p:nvGrpSpPr>
      <p:grpSpPr>
        <a:xfrm>
          <a:off x="0" y="0"/>
          <a:ext cx="0" cy="0"/>
          <a:chOff x="0" y="0"/>
          <a:chExt cx="0" cy="0"/>
        </a:xfrm>
      </p:grpSpPr>
      <p:sp>
        <p:nvSpPr>
          <p:cNvPr id="43" name="Google Shape;43;g2e63b4b50a3_0_19"/>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Beispiele aus verschiedenen Epochen</a:t>
            </a:r>
            <a:endParaRPr b="0" i="0" sz="2300" u="none" cap="none" strike="noStrike">
              <a:solidFill>
                <a:srgbClr val="000000"/>
              </a:solidFill>
              <a:latin typeface="Arial"/>
              <a:ea typeface="Arial"/>
              <a:cs typeface="Arial"/>
              <a:sym typeface="Arial"/>
            </a:endParaRPr>
          </a:p>
        </p:txBody>
      </p:sp>
      <p:sp>
        <p:nvSpPr>
          <p:cNvPr id="44" name="Google Shape;44;g2e63b4b50a3_0_19"/>
          <p:cNvSpPr txBox="1"/>
          <p:nvPr/>
        </p:nvSpPr>
        <p:spPr>
          <a:xfrm>
            <a:off x="769650" y="1272650"/>
            <a:ext cx="7604700" cy="3128100"/>
          </a:xfrm>
          <a:prstGeom prst="rect">
            <a:avLst/>
          </a:prstGeom>
          <a:noFill/>
          <a:ln>
            <a:noFill/>
          </a:ln>
        </p:spPr>
        <p:txBody>
          <a:bodyPr anchorCtr="0" anchor="t" bIns="91425" lIns="91425" spcFirstLastPara="1" rIns="91425" wrap="square" tIns="91425">
            <a:noAutofit/>
          </a:bodyPr>
          <a:lstStyle/>
          <a:p>
            <a:pPr indent="0" lvl="0" marL="457200" rtl="0" algn="l">
              <a:spcBef>
                <a:spcPts val="1200"/>
              </a:spcBef>
              <a:spcAft>
                <a:spcPts val="0"/>
              </a:spcAft>
              <a:buClr>
                <a:schemeClr val="dk1"/>
              </a:buClr>
              <a:buSzPts val="1100"/>
              <a:buFont typeface="Arial"/>
              <a:buNone/>
            </a:pPr>
            <a:r>
              <a:rPr b="1" lang="en-US">
                <a:solidFill>
                  <a:schemeClr val="dk1"/>
                </a:solidFill>
              </a:rPr>
              <a:t>Frühe regelbasierte Systeme: </a:t>
            </a:r>
            <a:r>
              <a:rPr lang="en-US">
                <a:solidFill>
                  <a:schemeClr val="dk1"/>
                </a:solidFill>
              </a:rPr>
              <a:t>Systeme basierend auf handgeschriebenen Regeln</a:t>
            </a:r>
            <a:endParaRPr>
              <a:solidFill>
                <a:schemeClr val="dk1"/>
              </a:solidFill>
            </a:endParaRPr>
          </a:p>
          <a:p>
            <a:pPr indent="0" lvl="0" marL="457200" rtl="0" algn="l">
              <a:spcBef>
                <a:spcPts val="1200"/>
              </a:spcBef>
              <a:spcAft>
                <a:spcPts val="0"/>
              </a:spcAft>
              <a:buClr>
                <a:schemeClr val="dk1"/>
              </a:buClr>
              <a:buSzPts val="1100"/>
              <a:buFont typeface="Arial"/>
              <a:buNone/>
            </a:pPr>
            <a:r>
              <a:rPr i="1" lang="en-US">
                <a:solidFill>
                  <a:schemeClr val="dk1"/>
                </a:solidFill>
              </a:rPr>
              <a:t>Beispiel: </a:t>
            </a:r>
            <a:r>
              <a:rPr lang="en-US">
                <a:solidFill>
                  <a:schemeClr val="dk1"/>
                </a:solidFill>
              </a:rPr>
              <a:t>ELIZA (1966) – Ein einfacher Gesprächsagent</a:t>
            </a:r>
            <a:endParaRPr>
              <a:solidFill>
                <a:schemeClr val="dk1"/>
              </a:solidFill>
            </a:endParaRPr>
          </a:p>
          <a:p>
            <a:pPr indent="0" lvl="0" marL="457200" rtl="0" algn="l">
              <a:spcBef>
                <a:spcPts val="1200"/>
              </a:spcBef>
              <a:spcAft>
                <a:spcPts val="0"/>
              </a:spcAft>
              <a:buClr>
                <a:schemeClr val="dk1"/>
              </a:buClr>
              <a:buSzPts val="1100"/>
              <a:buFont typeface="Arial"/>
              <a:buNone/>
            </a:pPr>
            <a:r>
              <a:rPr b="1" lang="en-US">
                <a:solidFill>
                  <a:schemeClr val="dk1"/>
                </a:solidFill>
              </a:rPr>
              <a:t>Statistische Methoden: </a:t>
            </a:r>
            <a:r>
              <a:rPr lang="en-US">
                <a:solidFill>
                  <a:schemeClr val="dk1"/>
                </a:solidFill>
              </a:rPr>
              <a:t>Verwendung statistischer Modelle zum Lernen aus Daten</a:t>
            </a:r>
            <a:endParaRPr>
              <a:solidFill>
                <a:schemeClr val="dk1"/>
              </a:solidFill>
            </a:endParaRPr>
          </a:p>
          <a:p>
            <a:pPr indent="0" lvl="0" marL="457200" rtl="0" algn="l">
              <a:spcBef>
                <a:spcPts val="1200"/>
              </a:spcBef>
              <a:spcAft>
                <a:spcPts val="0"/>
              </a:spcAft>
              <a:buClr>
                <a:schemeClr val="dk1"/>
              </a:buClr>
              <a:buSzPts val="1100"/>
              <a:buFont typeface="Arial"/>
              <a:buNone/>
            </a:pPr>
            <a:r>
              <a:rPr i="1" lang="en-US">
                <a:solidFill>
                  <a:schemeClr val="dk1"/>
                </a:solidFill>
              </a:rPr>
              <a:t>Beispiel: </a:t>
            </a:r>
            <a:r>
              <a:rPr lang="en-US">
                <a:solidFill>
                  <a:schemeClr val="dk1"/>
                </a:solidFill>
              </a:rPr>
              <a:t>Hidden Markov Modelle (HMM) für Part-of-Speech-Tagging</a:t>
            </a:r>
            <a:endParaRPr>
              <a:solidFill>
                <a:schemeClr val="dk1"/>
              </a:solidFill>
            </a:endParaRPr>
          </a:p>
          <a:p>
            <a:pPr indent="0" lvl="0" marL="457200" rtl="0" algn="l">
              <a:spcBef>
                <a:spcPts val="1200"/>
              </a:spcBef>
              <a:spcAft>
                <a:spcPts val="0"/>
              </a:spcAft>
              <a:buClr>
                <a:schemeClr val="dk1"/>
              </a:buClr>
              <a:buSzPts val="1100"/>
              <a:buFont typeface="Arial"/>
              <a:buNone/>
            </a:pPr>
            <a:r>
              <a:rPr b="1" lang="en-US">
                <a:solidFill>
                  <a:schemeClr val="dk1"/>
                </a:solidFill>
              </a:rPr>
              <a:t>Machine Learning in NLP: </a:t>
            </a:r>
            <a:r>
              <a:rPr lang="en-US">
                <a:solidFill>
                  <a:schemeClr val="dk1"/>
                </a:solidFill>
              </a:rPr>
              <a:t>Algorithmen, die aus großen Datensätzen lernen</a:t>
            </a:r>
            <a:endParaRPr>
              <a:solidFill>
                <a:schemeClr val="dk1"/>
              </a:solidFill>
            </a:endParaRPr>
          </a:p>
          <a:p>
            <a:pPr indent="0" lvl="0" marL="457200" rtl="0" algn="l">
              <a:spcBef>
                <a:spcPts val="1200"/>
              </a:spcBef>
              <a:spcAft>
                <a:spcPts val="0"/>
              </a:spcAft>
              <a:buClr>
                <a:schemeClr val="dk1"/>
              </a:buClr>
              <a:buSzPts val="1100"/>
              <a:buFont typeface="Arial"/>
              <a:buNone/>
            </a:pPr>
            <a:r>
              <a:rPr i="1" lang="en-US">
                <a:solidFill>
                  <a:schemeClr val="dk1"/>
                </a:solidFill>
              </a:rPr>
              <a:t>Beispiel: </a:t>
            </a:r>
            <a:r>
              <a:rPr lang="en-US">
                <a:solidFill>
                  <a:schemeClr val="dk1"/>
                </a:solidFill>
              </a:rPr>
              <a:t>Naive Bayes oder SVM für Textklassifikation, SVD (Singulärwertzerlegung) für dichte Repräsentationen (Embeddings)</a:t>
            </a:r>
            <a:endParaRPr>
              <a:solidFill>
                <a:schemeClr val="dk1"/>
              </a:solidFill>
            </a:endParaRPr>
          </a:p>
          <a:p>
            <a:pPr indent="0" lvl="0" marL="457200" rtl="0" algn="l">
              <a:spcBef>
                <a:spcPts val="1200"/>
              </a:spcBef>
              <a:spcAft>
                <a:spcPts val="0"/>
              </a:spcAft>
              <a:buClr>
                <a:schemeClr val="dk1"/>
              </a:buClr>
              <a:buSzPts val="1100"/>
              <a:buFont typeface="Arial"/>
              <a:buNone/>
            </a:pPr>
            <a:r>
              <a:rPr b="1" lang="en-US">
                <a:solidFill>
                  <a:schemeClr val="dk1"/>
                </a:solidFill>
              </a:rPr>
              <a:t>Deep Learning in NLP: </a:t>
            </a:r>
            <a:r>
              <a:rPr lang="en-US">
                <a:solidFill>
                  <a:schemeClr val="dk1"/>
                </a:solidFill>
              </a:rPr>
              <a:t>Neuronale Netze, die Textdaten verarbeiten</a:t>
            </a:r>
            <a:endParaRPr>
              <a:solidFill>
                <a:schemeClr val="dk1"/>
              </a:solidFill>
            </a:endParaRPr>
          </a:p>
          <a:p>
            <a:pPr indent="0" lvl="0" marL="457200" marR="0" rtl="0" algn="l">
              <a:lnSpc>
                <a:spcPct val="100000"/>
              </a:lnSpc>
              <a:spcBef>
                <a:spcPts val="1200"/>
              </a:spcBef>
              <a:spcAft>
                <a:spcPts val="0"/>
              </a:spcAft>
              <a:buClr>
                <a:srgbClr val="000000"/>
              </a:buClr>
              <a:buSzPts val="1400"/>
              <a:buFont typeface="Arial"/>
              <a:buNone/>
            </a:pPr>
            <a:r>
              <a:rPr i="1" lang="en-US">
                <a:solidFill>
                  <a:schemeClr val="dk1"/>
                </a:solidFill>
              </a:rPr>
              <a:t>Beispiel:</a:t>
            </a:r>
            <a:r>
              <a:rPr lang="en-US">
                <a:solidFill>
                  <a:schemeClr val="dk1"/>
                </a:solidFill>
              </a:rPr>
              <a:t> Transformer-Modelle wie BERT und GPT</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49" name="Shape 49"/>
        <p:cNvGrpSpPr/>
        <p:nvPr/>
      </p:nvGrpSpPr>
      <p:grpSpPr>
        <a:xfrm>
          <a:off x="0" y="0"/>
          <a:ext cx="0" cy="0"/>
          <a:chOff x="0" y="0"/>
          <a:chExt cx="0" cy="0"/>
        </a:xfrm>
      </p:grpSpPr>
      <p:sp>
        <p:nvSpPr>
          <p:cNvPr id="50" name="Google Shape;50;g2e579a02176_0_9"/>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NLP Anwendungsfälle</a:t>
            </a:r>
            <a:endParaRPr b="0" i="0" sz="2300" u="none" cap="none" strike="noStrike">
              <a:solidFill>
                <a:srgbClr val="000000"/>
              </a:solidFill>
              <a:latin typeface="Arial"/>
              <a:ea typeface="Arial"/>
              <a:cs typeface="Arial"/>
              <a:sym typeface="Arial"/>
            </a:endParaRPr>
          </a:p>
        </p:txBody>
      </p:sp>
      <p:sp>
        <p:nvSpPr>
          <p:cNvPr id="51" name="Google Shape;51;g2e579a02176_0_9"/>
          <p:cNvSpPr txBox="1"/>
          <p:nvPr/>
        </p:nvSpPr>
        <p:spPr>
          <a:xfrm>
            <a:off x="739850" y="1228500"/>
            <a:ext cx="7604700" cy="3616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200"/>
              </a:spcBef>
              <a:spcAft>
                <a:spcPts val="0"/>
              </a:spcAft>
              <a:buClr>
                <a:srgbClr val="000000"/>
              </a:buClr>
              <a:buSzPts val="1400"/>
              <a:buFont typeface="Arial"/>
              <a:buNone/>
            </a:pPr>
            <a:r>
              <a:rPr b="1" lang="en-US">
                <a:solidFill>
                  <a:schemeClr val="dk1"/>
                </a:solidFill>
              </a:rPr>
              <a:t>1. Mensch-Computer-Interaktion</a:t>
            </a:r>
            <a:endParaRPr b="1">
              <a:solidFill>
                <a:schemeClr val="dk1"/>
              </a:solidFill>
            </a:endParaRPr>
          </a:p>
          <a:p>
            <a:pPr indent="0" lvl="0" marL="457200" marR="0" rtl="0" algn="l">
              <a:lnSpc>
                <a:spcPct val="150000"/>
              </a:lnSpc>
              <a:spcBef>
                <a:spcPts val="1200"/>
              </a:spcBef>
              <a:spcAft>
                <a:spcPts val="0"/>
              </a:spcAft>
              <a:buClr>
                <a:srgbClr val="000000"/>
              </a:buClr>
              <a:buSzPts val="1400"/>
              <a:buFont typeface="Arial"/>
              <a:buNone/>
            </a:pPr>
            <a:r>
              <a:rPr lang="en-US">
                <a:solidFill>
                  <a:schemeClr val="dk1"/>
                </a:solidFill>
              </a:rPr>
              <a:t>Ermöglicht nahtlose Kommunikation zwischen Menschen und Maschinen durch natürliche Sprache:</a:t>
            </a:r>
            <a:endParaRPr>
              <a:solidFill>
                <a:schemeClr val="dk1"/>
              </a:solidFill>
            </a:endParaRPr>
          </a:p>
          <a:p>
            <a:pPr indent="-317500" lvl="0" marL="914400" marR="0" rtl="0" algn="l">
              <a:lnSpc>
                <a:spcPct val="150000"/>
              </a:lnSpc>
              <a:spcBef>
                <a:spcPts val="1200"/>
              </a:spcBef>
              <a:spcAft>
                <a:spcPts val="0"/>
              </a:spcAft>
              <a:buClr>
                <a:schemeClr val="dk1"/>
              </a:buClr>
              <a:buSzPts val="1400"/>
              <a:buChar char="●"/>
            </a:pPr>
            <a:r>
              <a:rPr b="1" lang="en-US">
                <a:solidFill>
                  <a:schemeClr val="dk1"/>
                </a:solidFill>
              </a:rPr>
              <a:t>Virtuelle Assistenten: </a:t>
            </a:r>
            <a:r>
              <a:rPr lang="en-US">
                <a:solidFill>
                  <a:schemeClr val="dk1"/>
                </a:solidFill>
              </a:rPr>
              <a:t>Alexa, Siri, Google Assistant, Cortana</a:t>
            </a:r>
            <a:endParaRPr>
              <a:solidFill>
                <a:schemeClr val="dk1"/>
              </a:solidFill>
            </a:endParaRPr>
          </a:p>
          <a:p>
            <a:pPr indent="-317500" lvl="0" marL="914400" marR="0" rtl="0" algn="l">
              <a:lnSpc>
                <a:spcPct val="150000"/>
              </a:lnSpc>
              <a:spcBef>
                <a:spcPts val="0"/>
              </a:spcBef>
              <a:spcAft>
                <a:spcPts val="0"/>
              </a:spcAft>
              <a:buClr>
                <a:schemeClr val="dk1"/>
              </a:buClr>
              <a:buSzPts val="1400"/>
              <a:buChar char="●"/>
            </a:pPr>
            <a:r>
              <a:rPr b="1" lang="en-US">
                <a:solidFill>
                  <a:schemeClr val="dk1"/>
                </a:solidFill>
              </a:rPr>
              <a:t>Chatbots: </a:t>
            </a:r>
            <a:r>
              <a:rPr lang="en-US">
                <a:solidFill>
                  <a:schemeClr val="dk1"/>
                </a:solidFill>
              </a:rPr>
              <a:t>Kundenservice-Bots in Banken (z.B. „Erica“ von Bank of America), E-Commerce (z.B. Shopify-Chatbots), Gesundheitswesen (z.B. Babylon Health)</a:t>
            </a:r>
            <a:endParaRPr>
              <a:solidFill>
                <a:schemeClr val="dk1"/>
              </a:solidFill>
            </a:endParaRPr>
          </a:p>
          <a:p>
            <a:pPr indent="-317500" lvl="0" marL="914400" marR="0" rtl="0" algn="l">
              <a:lnSpc>
                <a:spcPct val="150000"/>
              </a:lnSpc>
              <a:spcBef>
                <a:spcPts val="0"/>
              </a:spcBef>
              <a:spcAft>
                <a:spcPts val="0"/>
              </a:spcAft>
              <a:buClr>
                <a:schemeClr val="dk1"/>
              </a:buClr>
              <a:buSzPts val="1400"/>
              <a:buChar char="●"/>
            </a:pPr>
            <a:r>
              <a:rPr b="1" lang="en-US">
                <a:solidFill>
                  <a:schemeClr val="dk1"/>
                </a:solidFill>
              </a:rPr>
              <a:t>Conversational AI: </a:t>
            </a:r>
            <a:r>
              <a:rPr lang="en-US">
                <a:solidFill>
                  <a:schemeClr val="dk1"/>
                </a:solidFill>
              </a:rPr>
              <a:t>ChatGPT und ähnliche Modelle</a:t>
            </a:r>
            <a:endParaRPr>
              <a:solidFill>
                <a:schemeClr val="dk1"/>
              </a:solidFill>
            </a:endParaRPr>
          </a:p>
          <a:p>
            <a:pPr indent="-317500" lvl="0" marL="914400" marR="0" rtl="0" algn="l">
              <a:lnSpc>
                <a:spcPct val="150000"/>
              </a:lnSpc>
              <a:spcBef>
                <a:spcPts val="0"/>
              </a:spcBef>
              <a:spcAft>
                <a:spcPts val="0"/>
              </a:spcAft>
              <a:buClr>
                <a:schemeClr val="dk1"/>
              </a:buClr>
              <a:buSzPts val="1400"/>
              <a:buChar char="●"/>
            </a:pPr>
            <a:r>
              <a:rPr b="1" lang="en-US">
                <a:solidFill>
                  <a:schemeClr val="dk1"/>
                </a:solidFill>
              </a:rPr>
              <a:t>Spracherkennung und Sprachsteuerung: </a:t>
            </a:r>
            <a:r>
              <a:rPr lang="en-US">
                <a:solidFill>
                  <a:schemeClr val="dk1"/>
                </a:solidFill>
              </a:rPr>
              <a:t>Tools wie Google Live Transcribe</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56" name="Shape 56"/>
        <p:cNvGrpSpPr/>
        <p:nvPr/>
      </p:nvGrpSpPr>
      <p:grpSpPr>
        <a:xfrm>
          <a:off x="0" y="0"/>
          <a:ext cx="0" cy="0"/>
          <a:chOff x="0" y="0"/>
          <a:chExt cx="0" cy="0"/>
        </a:xfrm>
      </p:grpSpPr>
      <p:sp>
        <p:nvSpPr>
          <p:cNvPr id="57" name="Google Shape;57;g3189839d5e5_0_3"/>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NLP Anwendungsfälle</a:t>
            </a:r>
            <a:endParaRPr b="0" i="0" sz="2300" u="none" cap="none" strike="noStrike">
              <a:solidFill>
                <a:srgbClr val="000000"/>
              </a:solidFill>
              <a:latin typeface="Arial"/>
              <a:ea typeface="Arial"/>
              <a:cs typeface="Arial"/>
              <a:sym typeface="Arial"/>
            </a:endParaRPr>
          </a:p>
        </p:txBody>
      </p:sp>
      <p:sp>
        <p:nvSpPr>
          <p:cNvPr id="58" name="Google Shape;58;g3189839d5e5_0_3"/>
          <p:cNvSpPr txBox="1"/>
          <p:nvPr/>
        </p:nvSpPr>
        <p:spPr>
          <a:xfrm>
            <a:off x="739850" y="1228500"/>
            <a:ext cx="7604700" cy="36168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US">
                <a:solidFill>
                  <a:schemeClr val="dk1"/>
                </a:solidFill>
              </a:rPr>
              <a:t>2. Automatisierung</a:t>
            </a:r>
            <a:endParaRPr b="1">
              <a:solidFill>
                <a:schemeClr val="dk1"/>
              </a:solidFill>
            </a:endParaRPr>
          </a:p>
          <a:p>
            <a:pPr indent="0" lvl="0" marL="457200" rtl="0" algn="l">
              <a:spcBef>
                <a:spcPts val="1200"/>
              </a:spcBef>
              <a:spcAft>
                <a:spcPts val="0"/>
              </a:spcAft>
              <a:buClr>
                <a:schemeClr val="dk1"/>
              </a:buClr>
              <a:buSzPts val="1100"/>
              <a:buFont typeface="Arial"/>
              <a:buNone/>
            </a:pPr>
            <a:r>
              <a:rPr lang="en-US">
                <a:solidFill>
                  <a:schemeClr val="dk1"/>
                </a:solidFill>
              </a:rPr>
              <a:t>Vereinfachung von Prozessen und Verringerung manueller Arbeit bei sprachbezogenen Aufgaben:</a:t>
            </a:r>
            <a:endParaRPr>
              <a:solidFill>
                <a:schemeClr val="dk1"/>
              </a:solidFill>
            </a:endParaRPr>
          </a:p>
          <a:p>
            <a:pPr indent="-317500" lvl="0" marL="914400" rtl="0" algn="l">
              <a:spcBef>
                <a:spcPts val="1200"/>
              </a:spcBef>
              <a:spcAft>
                <a:spcPts val="0"/>
              </a:spcAft>
              <a:buClr>
                <a:schemeClr val="dk1"/>
              </a:buClr>
              <a:buSzPts val="1400"/>
              <a:buChar char="●"/>
            </a:pPr>
            <a:r>
              <a:rPr b="1" lang="en-US">
                <a:solidFill>
                  <a:schemeClr val="dk1"/>
                </a:solidFill>
              </a:rPr>
              <a:t>Dokumentenverarbeitung: </a:t>
            </a:r>
            <a:r>
              <a:rPr lang="en-US">
                <a:solidFill>
                  <a:schemeClr val="dk1"/>
                </a:solidFill>
              </a:rPr>
              <a:t>Automatische Extraktion von Rechnungsdaten, Vertragsanalyse und Compliance-Checks für Branchen wie Finanzen, Versicherung und Recht</a:t>
            </a:r>
            <a:endParaRPr>
              <a:solidFill>
                <a:schemeClr val="dk1"/>
              </a:solidFill>
            </a:endParaRPr>
          </a:p>
          <a:p>
            <a:pPr indent="-317500" lvl="0" marL="914400" rtl="0" algn="l">
              <a:spcBef>
                <a:spcPts val="0"/>
              </a:spcBef>
              <a:spcAft>
                <a:spcPts val="0"/>
              </a:spcAft>
              <a:buClr>
                <a:schemeClr val="dk1"/>
              </a:buClr>
              <a:buSzPts val="1400"/>
              <a:buChar char="●"/>
            </a:pPr>
            <a:r>
              <a:rPr b="1" lang="en-US">
                <a:solidFill>
                  <a:schemeClr val="dk1"/>
                </a:solidFill>
              </a:rPr>
              <a:t>E-Mail-Verwaltung: </a:t>
            </a:r>
            <a:r>
              <a:rPr lang="en-US">
                <a:solidFill>
                  <a:schemeClr val="dk1"/>
                </a:solidFill>
              </a:rPr>
              <a:t>Automatisches Sortieren, Zusammenfassen und Beantworten von E-Mails</a:t>
            </a:r>
            <a:endParaRPr>
              <a:solidFill>
                <a:schemeClr val="dk1"/>
              </a:solidFill>
            </a:endParaRPr>
          </a:p>
          <a:p>
            <a:pPr indent="-317500" lvl="0" marL="914400" rtl="0" algn="l">
              <a:spcBef>
                <a:spcPts val="0"/>
              </a:spcBef>
              <a:spcAft>
                <a:spcPts val="0"/>
              </a:spcAft>
              <a:buClr>
                <a:schemeClr val="dk1"/>
              </a:buClr>
              <a:buSzPts val="1400"/>
              <a:buChar char="●"/>
            </a:pPr>
            <a:r>
              <a:rPr b="1" lang="en-US">
                <a:solidFill>
                  <a:schemeClr val="dk1"/>
                </a:solidFill>
              </a:rPr>
              <a:t>Dateneingabe und Zusammenfassung: </a:t>
            </a:r>
            <a:r>
              <a:rPr lang="en-US">
                <a:solidFill>
                  <a:schemeClr val="dk1"/>
                </a:solidFill>
              </a:rPr>
              <a:t>Extraktion wichtiger Informationen aus Lebensläufen, Forschungsarbeiten und anderen strukturierten/unstrukturierten Daten</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rPr b="1" lang="en-US">
                <a:solidFill>
                  <a:schemeClr val="dk1"/>
                </a:solidFill>
              </a:rPr>
              <a:t>Übersetzung und Lokalisierung</a:t>
            </a:r>
            <a:endParaRPr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63" name="Shape 63"/>
        <p:cNvGrpSpPr/>
        <p:nvPr/>
      </p:nvGrpSpPr>
      <p:grpSpPr>
        <a:xfrm>
          <a:off x="0" y="0"/>
          <a:ext cx="0" cy="0"/>
          <a:chOff x="0" y="0"/>
          <a:chExt cx="0" cy="0"/>
        </a:xfrm>
      </p:grpSpPr>
      <p:sp>
        <p:nvSpPr>
          <p:cNvPr id="64" name="Google Shape;64;g3189839d5e5_0_11"/>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NLP Anwendungsfälle</a:t>
            </a:r>
            <a:endParaRPr b="0" i="0" sz="2300" u="none" cap="none" strike="noStrike">
              <a:solidFill>
                <a:srgbClr val="000000"/>
              </a:solidFill>
              <a:latin typeface="Arial"/>
              <a:ea typeface="Arial"/>
              <a:cs typeface="Arial"/>
              <a:sym typeface="Arial"/>
            </a:endParaRPr>
          </a:p>
        </p:txBody>
      </p:sp>
      <p:sp>
        <p:nvSpPr>
          <p:cNvPr id="65" name="Google Shape;65;g3189839d5e5_0_11"/>
          <p:cNvSpPr txBox="1"/>
          <p:nvPr/>
        </p:nvSpPr>
        <p:spPr>
          <a:xfrm>
            <a:off x="734875" y="1158925"/>
            <a:ext cx="7604700" cy="36168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US">
                <a:solidFill>
                  <a:schemeClr val="dk1"/>
                </a:solidFill>
              </a:rPr>
              <a:t>3. Erkenntnisse</a:t>
            </a:r>
            <a:endParaRPr b="1">
              <a:solidFill>
                <a:schemeClr val="dk1"/>
              </a:solidFill>
            </a:endParaRPr>
          </a:p>
          <a:p>
            <a:pPr indent="0" lvl="0" marL="457200" rtl="0" algn="l">
              <a:spcBef>
                <a:spcPts val="1200"/>
              </a:spcBef>
              <a:spcAft>
                <a:spcPts val="0"/>
              </a:spcAft>
              <a:buClr>
                <a:schemeClr val="dk1"/>
              </a:buClr>
              <a:buSzPts val="1100"/>
              <a:buFont typeface="Arial"/>
              <a:buNone/>
            </a:pPr>
            <a:r>
              <a:rPr lang="en-US">
                <a:solidFill>
                  <a:schemeClr val="dk1"/>
                </a:solidFill>
              </a:rPr>
              <a:t>Erkennen wertvoller Informationen und Muster aus riesigen Textdatensätzen:</a:t>
            </a:r>
            <a:endParaRPr>
              <a:solidFill>
                <a:schemeClr val="dk1"/>
              </a:solidFill>
            </a:endParaRPr>
          </a:p>
          <a:p>
            <a:pPr indent="-317500" lvl="0" marL="914400" rtl="0" algn="l">
              <a:spcBef>
                <a:spcPts val="1200"/>
              </a:spcBef>
              <a:spcAft>
                <a:spcPts val="0"/>
              </a:spcAft>
              <a:buClr>
                <a:schemeClr val="dk1"/>
              </a:buClr>
              <a:buSzPts val="1400"/>
              <a:buChar char="●"/>
            </a:pPr>
            <a:r>
              <a:rPr b="1" lang="en-US">
                <a:solidFill>
                  <a:schemeClr val="dk1"/>
                </a:solidFill>
              </a:rPr>
              <a:t>Sentiment-Analyse: </a:t>
            </a:r>
            <a:r>
              <a:rPr lang="en-US">
                <a:solidFill>
                  <a:schemeClr val="dk1"/>
                </a:solidFill>
              </a:rPr>
              <a:t>Analyse öffentlicher Meinungen zu Wahlen, Marken oder Ereignissen via Social Media, Umfragen und Bewertungen</a:t>
            </a:r>
            <a:endParaRPr>
              <a:solidFill>
                <a:schemeClr val="dk1"/>
              </a:solidFill>
            </a:endParaRPr>
          </a:p>
          <a:p>
            <a:pPr indent="-317500" lvl="0" marL="914400" rtl="0" algn="l">
              <a:spcBef>
                <a:spcPts val="0"/>
              </a:spcBef>
              <a:spcAft>
                <a:spcPts val="0"/>
              </a:spcAft>
              <a:buClr>
                <a:schemeClr val="dk1"/>
              </a:buClr>
              <a:buSzPts val="1400"/>
              <a:buChar char="●"/>
            </a:pPr>
            <a:r>
              <a:rPr b="1" lang="en-US">
                <a:solidFill>
                  <a:schemeClr val="dk1"/>
                </a:solidFill>
              </a:rPr>
              <a:t>Trend-Erkennung: </a:t>
            </a:r>
            <a:r>
              <a:rPr lang="en-US">
                <a:solidFill>
                  <a:schemeClr val="dk1"/>
                </a:solidFill>
              </a:rPr>
              <a:t>Erkennen aufkommender Themen in Kundenfeedback oder Online-Diskussionen</a:t>
            </a:r>
            <a:endParaRPr>
              <a:solidFill>
                <a:schemeClr val="dk1"/>
              </a:solidFill>
            </a:endParaRPr>
          </a:p>
          <a:p>
            <a:pPr indent="-317500" lvl="0" marL="914400" rtl="0" algn="l">
              <a:spcBef>
                <a:spcPts val="0"/>
              </a:spcBef>
              <a:spcAft>
                <a:spcPts val="0"/>
              </a:spcAft>
              <a:buClr>
                <a:schemeClr val="dk1"/>
              </a:buClr>
              <a:buSzPts val="1400"/>
              <a:buChar char="●"/>
            </a:pPr>
            <a:r>
              <a:rPr b="1" lang="en-US">
                <a:solidFill>
                  <a:schemeClr val="dk1"/>
                </a:solidFill>
              </a:rPr>
              <a:t>Marktforschung: </a:t>
            </a:r>
            <a:r>
              <a:rPr lang="en-US">
                <a:solidFill>
                  <a:schemeClr val="dk1"/>
                </a:solidFill>
              </a:rPr>
              <a:t>Gewinnung von Wettbewerbsinformationen aus Foren, Nachrichten oder Marktberichten</a:t>
            </a:r>
            <a:endParaRPr>
              <a:solidFill>
                <a:schemeClr val="dk1"/>
              </a:solidFill>
            </a:endParaRPr>
          </a:p>
          <a:p>
            <a:pPr indent="-317500" lvl="0" marL="914400" marR="0" rtl="0" algn="l">
              <a:lnSpc>
                <a:spcPct val="100000"/>
              </a:lnSpc>
              <a:spcBef>
                <a:spcPts val="0"/>
              </a:spcBef>
              <a:spcAft>
                <a:spcPts val="0"/>
              </a:spcAft>
              <a:buClr>
                <a:schemeClr val="dk1"/>
              </a:buClr>
              <a:buSzPts val="1400"/>
              <a:buChar char="●"/>
            </a:pPr>
            <a:r>
              <a:rPr b="1" lang="en-US">
                <a:solidFill>
                  <a:schemeClr val="dk1"/>
                </a:solidFill>
              </a:rPr>
              <a:t>Gesundheitliche Erkenntnisse: </a:t>
            </a:r>
            <a:r>
              <a:rPr lang="en-US">
                <a:solidFill>
                  <a:schemeClr val="dk1"/>
                </a:solidFill>
              </a:rPr>
              <a:t>Auswertung medizinischer Aufzeichnungen und Forschung zur Trendanalyse und Unterstützung klinischer Entscheidungen</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70" name="Shape 70"/>
        <p:cNvGrpSpPr/>
        <p:nvPr/>
      </p:nvGrpSpPr>
      <p:grpSpPr>
        <a:xfrm>
          <a:off x="0" y="0"/>
          <a:ext cx="0" cy="0"/>
          <a:chOff x="0" y="0"/>
          <a:chExt cx="0" cy="0"/>
        </a:xfrm>
      </p:grpSpPr>
      <p:sp>
        <p:nvSpPr>
          <p:cNvPr id="71" name="Google Shape;71;g2e63b4b50a3_0_4"/>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Weitere NLP Anwendungsfälle</a:t>
            </a:r>
            <a:endParaRPr b="0" i="0" sz="2300" u="none" cap="none" strike="noStrike">
              <a:solidFill>
                <a:srgbClr val="000000"/>
              </a:solidFill>
              <a:latin typeface="Arial"/>
              <a:ea typeface="Arial"/>
              <a:cs typeface="Arial"/>
              <a:sym typeface="Arial"/>
            </a:endParaRPr>
          </a:p>
        </p:txBody>
      </p:sp>
      <p:pic>
        <p:nvPicPr>
          <p:cNvPr id="72" name="Google Shape;72;g2e63b4b50a3_0_4"/>
          <p:cNvPicPr preferRelativeResize="0"/>
          <p:nvPr/>
        </p:nvPicPr>
        <p:blipFill rotWithShape="1">
          <a:blip r:embed="rId3">
            <a:alphaModFix/>
          </a:blip>
          <a:srcRect b="0" l="0" r="0" t="0"/>
          <a:stretch/>
        </p:blipFill>
        <p:spPr>
          <a:xfrm>
            <a:off x="1613513" y="1220949"/>
            <a:ext cx="5916974" cy="3328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6F1">
            <a:alpha val="20000"/>
          </a:srgbClr>
        </a:solidFill>
      </p:bgPr>
    </p:bg>
    <p:spTree>
      <p:nvGrpSpPr>
        <p:cNvPr id="77" name="Shape 77"/>
        <p:cNvGrpSpPr/>
        <p:nvPr/>
      </p:nvGrpSpPr>
      <p:grpSpPr>
        <a:xfrm>
          <a:off x="0" y="0"/>
          <a:ext cx="0" cy="0"/>
          <a:chOff x="0" y="0"/>
          <a:chExt cx="0" cy="0"/>
        </a:xfrm>
      </p:grpSpPr>
      <p:sp>
        <p:nvSpPr>
          <p:cNvPr id="78" name="Google Shape;78;g2e63b4b50a3_0_34"/>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Reale industrielle NLP-Anwendungsfälle</a:t>
            </a:r>
            <a:endParaRPr b="0" i="0" sz="2300" u="none" cap="none" strike="noStrike">
              <a:solidFill>
                <a:srgbClr val="000000"/>
              </a:solidFill>
              <a:latin typeface="Arial"/>
              <a:ea typeface="Arial"/>
              <a:cs typeface="Arial"/>
              <a:sym typeface="Arial"/>
            </a:endParaRPr>
          </a:p>
        </p:txBody>
      </p:sp>
      <p:sp>
        <p:nvSpPr>
          <p:cNvPr id="79" name="Google Shape;79;g2e63b4b50a3_0_34"/>
          <p:cNvSpPr txBox="1"/>
          <p:nvPr/>
        </p:nvSpPr>
        <p:spPr>
          <a:xfrm>
            <a:off x="769650" y="1228500"/>
            <a:ext cx="7604700" cy="3336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en-US"/>
              <a:t>Klassifikation von Hunderttausenden Websites nach Technologie und Branche</a:t>
            </a:r>
            <a:endParaRPr/>
          </a:p>
          <a:p>
            <a:pPr indent="-317500" lvl="0" marL="457200" rtl="0" algn="l">
              <a:lnSpc>
                <a:spcPct val="115000"/>
              </a:lnSpc>
              <a:spcBef>
                <a:spcPts val="0"/>
              </a:spcBef>
              <a:spcAft>
                <a:spcPts val="0"/>
              </a:spcAft>
              <a:buClr>
                <a:schemeClr val="dk1"/>
              </a:buClr>
              <a:buSzPts val="1400"/>
              <a:buChar char="●"/>
            </a:pPr>
            <a:r>
              <a:rPr lang="en-US"/>
              <a:t>Automatisierung der vollständigen Schadenabwicklung bei Versicherungen</a:t>
            </a:r>
            <a:endParaRPr/>
          </a:p>
          <a:p>
            <a:pPr indent="-317500" lvl="1" marL="914400" rtl="0" algn="l">
              <a:lnSpc>
                <a:spcPct val="115000"/>
              </a:lnSpc>
              <a:spcBef>
                <a:spcPts val="0"/>
              </a:spcBef>
              <a:spcAft>
                <a:spcPts val="0"/>
              </a:spcAft>
              <a:buClr>
                <a:schemeClr val="dk1"/>
              </a:buClr>
              <a:buSzPts val="1400"/>
              <a:buChar char="○"/>
            </a:pPr>
            <a:r>
              <a:rPr lang="en-US"/>
              <a:t>Dokumentklassifikation basierend auf Risiko und Schadensursachen</a:t>
            </a:r>
            <a:endParaRPr/>
          </a:p>
          <a:p>
            <a:pPr indent="-317500" lvl="1" marL="914400" rtl="0" algn="l">
              <a:lnSpc>
                <a:spcPct val="115000"/>
              </a:lnSpc>
              <a:spcBef>
                <a:spcPts val="0"/>
              </a:spcBef>
              <a:spcAft>
                <a:spcPts val="0"/>
              </a:spcAft>
              <a:buClr>
                <a:schemeClr val="dk1"/>
              </a:buClr>
              <a:buSzPts val="1400"/>
              <a:buChar char="○"/>
            </a:pPr>
            <a:r>
              <a:rPr lang="en-US"/>
              <a:t>Extraktion wichtiger Entitäten wie Namen, Firmen, Adressen (Named Entity Recognition, NER)</a:t>
            </a:r>
            <a:endParaRPr/>
          </a:p>
          <a:p>
            <a:pPr indent="-317500" lvl="1" marL="914400" rtl="0" algn="l">
              <a:lnSpc>
                <a:spcPct val="115000"/>
              </a:lnSpc>
              <a:spcBef>
                <a:spcPts val="0"/>
              </a:spcBef>
              <a:spcAft>
                <a:spcPts val="0"/>
              </a:spcAft>
              <a:buClr>
                <a:schemeClr val="dk1"/>
              </a:buClr>
              <a:buSzPts val="1400"/>
              <a:buChar char="○"/>
            </a:pPr>
            <a:r>
              <a:rPr lang="en-US"/>
              <a:t>Prüfung, ob eine Versicherungspolice zum Schaden passt</a:t>
            </a:r>
            <a:endParaRPr/>
          </a:p>
          <a:p>
            <a:pPr indent="-317500" lvl="1" marL="914400" rtl="0" algn="l">
              <a:lnSpc>
                <a:spcPct val="115000"/>
              </a:lnSpc>
              <a:spcBef>
                <a:spcPts val="0"/>
              </a:spcBef>
              <a:spcAft>
                <a:spcPts val="0"/>
              </a:spcAft>
              <a:buClr>
                <a:schemeClr val="dk1"/>
              </a:buClr>
              <a:buSzPts val="1400"/>
              <a:buChar char="○"/>
            </a:pPr>
            <a:r>
              <a:rPr lang="en-US"/>
              <a:t>Verstehen von Rechnungen mit verschiedenen Tabellenformaten</a:t>
            </a:r>
            <a:endParaRPr/>
          </a:p>
          <a:p>
            <a:pPr indent="-317500" lvl="0" marL="457200" marR="0" rtl="0" algn="l">
              <a:lnSpc>
                <a:spcPct val="115000"/>
              </a:lnSpc>
              <a:spcBef>
                <a:spcPts val="0"/>
              </a:spcBef>
              <a:spcAft>
                <a:spcPts val="0"/>
              </a:spcAft>
              <a:buClr>
                <a:schemeClr val="dk1"/>
              </a:buClr>
              <a:buSzPts val="1400"/>
              <a:buFont typeface="Arial"/>
              <a:buChar char="●"/>
            </a:pPr>
            <a:r>
              <a:rPr lang="en-US"/>
              <a:t>Markenschutz – Identifikation von rechtsverletzenden Websites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75F6E"/>
        </a:solidFill>
      </p:bgPr>
    </p:bg>
    <p:spTree>
      <p:nvGrpSpPr>
        <p:cNvPr id="84" name="Shape 84"/>
        <p:cNvGrpSpPr/>
        <p:nvPr/>
      </p:nvGrpSpPr>
      <p:grpSpPr>
        <a:xfrm>
          <a:off x="0" y="0"/>
          <a:ext cx="0" cy="0"/>
          <a:chOff x="0" y="0"/>
          <a:chExt cx="0" cy="0"/>
        </a:xfrm>
      </p:grpSpPr>
      <p:sp>
        <p:nvSpPr>
          <p:cNvPr id="85" name="Google Shape;85;g32c3cf94e98_1_6"/>
          <p:cNvSpPr/>
          <p:nvPr/>
        </p:nvSpPr>
        <p:spPr>
          <a:xfrm>
            <a:off x="1685025" y="2195400"/>
            <a:ext cx="5248200" cy="7527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chemeClr val="dk1"/>
              </a:buClr>
              <a:buSzPts val="1100"/>
              <a:buFont typeface="Arial"/>
              <a:buNone/>
            </a:pPr>
            <a:r>
              <a:rPr lang="en-US" sz="3400">
                <a:solidFill>
                  <a:srgbClr val="FFFFFF"/>
                </a:solidFill>
              </a:rPr>
              <a:t>NLP Arbeitsablauf</a:t>
            </a:r>
            <a:endParaRPr b="0" i="0" sz="34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90" name="Shape 90"/>
        <p:cNvGrpSpPr/>
        <p:nvPr/>
      </p:nvGrpSpPr>
      <p:grpSpPr>
        <a:xfrm>
          <a:off x="0" y="0"/>
          <a:ext cx="0" cy="0"/>
          <a:chOff x="0" y="0"/>
          <a:chExt cx="0" cy="0"/>
        </a:xfrm>
      </p:grpSpPr>
      <p:sp>
        <p:nvSpPr>
          <p:cNvPr id="91" name="Google Shape;91;g2e63b4b50a3_0_52"/>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Unterschiedliche Schritte in einem NLP-Problem</a:t>
            </a:r>
            <a:endParaRPr b="0" i="0" sz="2300" u="none" cap="none" strike="noStrike">
              <a:solidFill>
                <a:srgbClr val="000000"/>
              </a:solidFill>
              <a:latin typeface="Arial"/>
              <a:ea typeface="Arial"/>
              <a:cs typeface="Arial"/>
              <a:sym typeface="Arial"/>
            </a:endParaRPr>
          </a:p>
        </p:txBody>
      </p:sp>
      <p:sp>
        <p:nvSpPr>
          <p:cNvPr id="92" name="Google Shape;92;g2e63b4b50a3_0_52"/>
          <p:cNvSpPr txBox="1"/>
          <p:nvPr/>
        </p:nvSpPr>
        <p:spPr>
          <a:xfrm>
            <a:off x="769650" y="1188825"/>
            <a:ext cx="7604700" cy="38022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dk1"/>
              </a:buClr>
              <a:buSzPts val="1600"/>
              <a:buChar char="●"/>
            </a:pPr>
            <a:r>
              <a:rPr b="1" lang="en-US" sz="1600">
                <a:solidFill>
                  <a:schemeClr val="dk1"/>
                </a:solidFill>
              </a:rPr>
              <a:t>Datenerfassung:</a:t>
            </a:r>
            <a:r>
              <a:rPr lang="en-US" sz="1600">
                <a:solidFill>
                  <a:schemeClr val="dk1"/>
                </a:solidFill>
              </a:rPr>
              <a:t> Sammlung von Textdaten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chemeClr val="dk1"/>
                </a:solidFill>
              </a:rPr>
              <a:t>Annotation:</a:t>
            </a:r>
            <a:r>
              <a:rPr lang="en-US" sz="1600">
                <a:solidFill>
                  <a:schemeClr val="dk1"/>
                </a:solidFill>
              </a:rPr>
              <a:t> Daten kennzeichnen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chemeClr val="dk1"/>
                </a:solidFill>
              </a:rPr>
              <a:t>Datenvorverarbeitung</a:t>
            </a:r>
            <a:r>
              <a:rPr lang="en-US" sz="1600">
                <a:solidFill>
                  <a:schemeClr val="dk1"/>
                </a:solidFill>
              </a:rPr>
              <a:t>: Text bereinigen und für Analyse vorbereiten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chemeClr val="dk1"/>
                </a:solidFill>
              </a:rPr>
              <a:t>Merkmalextraktion:</a:t>
            </a:r>
            <a:r>
              <a:rPr lang="en-US" sz="1600">
                <a:solidFill>
                  <a:schemeClr val="dk1"/>
                </a:solidFill>
              </a:rPr>
              <a:t> Umwandlung von Text in numerische Merkmale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chemeClr val="dk1"/>
                </a:solidFill>
              </a:rPr>
              <a:t>Modelltraining:</a:t>
            </a:r>
            <a:r>
              <a:rPr lang="en-US" sz="1600">
                <a:solidFill>
                  <a:schemeClr val="dk1"/>
                </a:solidFill>
              </a:rPr>
              <a:t> Anwendung von Algorithmen auf Textdaten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chemeClr val="dk1"/>
                </a:solidFill>
              </a:rPr>
              <a:t>Modellevaluation:</a:t>
            </a:r>
            <a:r>
              <a:rPr lang="en-US" sz="1600">
                <a:solidFill>
                  <a:schemeClr val="dk1"/>
                </a:solidFill>
              </a:rPr>
              <a:t> Bewertung der Leistung von NLP-Modellen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Der NLP-Prozess ist zyklisch und iterativ. Die Qualität der Daten und Annotationen beeinflusst den Erfolg der folgenden Schritte.</a:t>
            </a:r>
            <a:endParaRPr sz="1600">
              <a:solidFill>
                <a:schemeClr val="dk1"/>
              </a:solidFill>
            </a:endParaRPr>
          </a:p>
          <a:p>
            <a:pPr indent="0" lvl="0" marL="0" marR="0" rtl="0" algn="l">
              <a:lnSpc>
                <a:spcPct val="150000"/>
              </a:lnSpc>
              <a:spcBef>
                <a:spcPts val="1200"/>
              </a:spcBef>
              <a:spcAft>
                <a:spcPts val="0"/>
              </a:spcAft>
              <a:buClr>
                <a:srgbClr val="000000"/>
              </a:buClr>
              <a:buSzPts val="1400"/>
              <a:buFont typeface="Arial"/>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6F1">
            <a:alpha val="20000"/>
          </a:srgbClr>
        </a:solidFill>
      </p:bgPr>
    </p:bg>
    <p:spTree>
      <p:nvGrpSpPr>
        <p:cNvPr id="97" name="Shape 97"/>
        <p:cNvGrpSpPr/>
        <p:nvPr/>
      </p:nvGrpSpPr>
      <p:grpSpPr>
        <a:xfrm>
          <a:off x="0" y="0"/>
          <a:ext cx="0" cy="0"/>
          <a:chOff x="0" y="0"/>
          <a:chExt cx="0" cy="0"/>
        </a:xfrm>
      </p:grpSpPr>
      <p:sp>
        <p:nvSpPr>
          <p:cNvPr id="98" name="Google Shape;98;g32c3cf94e98_6_153"/>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Unterschiedliche Schritte in einem NLP-Problem</a:t>
            </a:r>
            <a:endParaRPr b="0" i="0" sz="2300" u="none" cap="none" strike="noStrike">
              <a:solidFill>
                <a:srgbClr val="000000"/>
              </a:solidFill>
              <a:latin typeface="Arial"/>
              <a:ea typeface="Arial"/>
              <a:cs typeface="Arial"/>
              <a:sym typeface="Arial"/>
            </a:endParaRPr>
          </a:p>
        </p:txBody>
      </p:sp>
      <p:sp>
        <p:nvSpPr>
          <p:cNvPr id="99" name="Google Shape;99;g32c3cf94e98_6_153"/>
          <p:cNvSpPr/>
          <p:nvPr/>
        </p:nvSpPr>
        <p:spPr>
          <a:xfrm>
            <a:off x="727875" y="1487300"/>
            <a:ext cx="1346400" cy="8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Wir haben Textdaten</a:t>
            </a:r>
            <a:endParaRPr b="0" i="0" sz="1400" u="none" cap="none" strike="noStrike">
              <a:solidFill>
                <a:srgbClr val="000000"/>
              </a:solidFill>
              <a:latin typeface="Arial"/>
              <a:ea typeface="Arial"/>
              <a:cs typeface="Arial"/>
              <a:sym typeface="Arial"/>
            </a:endParaRPr>
          </a:p>
        </p:txBody>
      </p:sp>
      <p:grpSp>
        <p:nvGrpSpPr>
          <p:cNvPr id="100" name="Google Shape;100;g32c3cf94e98_6_153"/>
          <p:cNvGrpSpPr/>
          <p:nvPr/>
        </p:nvGrpSpPr>
        <p:grpSpPr>
          <a:xfrm>
            <a:off x="2074275" y="1487300"/>
            <a:ext cx="1933800" cy="810000"/>
            <a:chOff x="2074275" y="1487300"/>
            <a:chExt cx="1933800" cy="810000"/>
          </a:xfrm>
        </p:grpSpPr>
        <p:cxnSp>
          <p:nvCxnSpPr>
            <p:cNvPr id="101" name="Google Shape;101;g32c3cf94e98_6_153"/>
            <p:cNvCxnSpPr>
              <a:stCxn id="99" idx="3"/>
            </p:cNvCxnSpPr>
            <p:nvPr/>
          </p:nvCxnSpPr>
          <p:spPr>
            <a:xfrm flipH="1" rot="10800000">
              <a:off x="2074275" y="1886900"/>
              <a:ext cx="515400" cy="5400"/>
            </a:xfrm>
            <a:prstGeom prst="straightConnector1">
              <a:avLst/>
            </a:prstGeom>
            <a:noFill/>
            <a:ln cap="flat" cmpd="sng" w="9525">
              <a:solidFill>
                <a:schemeClr val="dk2"/>
              </a:solidFill>
              <a:prstDash val="solid"/>
              <a:round/>
              <a:headEnd len="sm" w="sm" type="none"/>
              <a:tailEnd len="med" w="med" type="triangle"/>
            </a:ln>
          </p:spPr>
        </p:cxnSp>
        <p:sp>
          <p:nvSpPr>
            <p:cNvPr id="102" name="Google Shape;102;g32c3cf94e98_6_153"/>
            <p:cNvSpPr/>
            <p:nvPr/>
          </p:nvSpPr>
          <p:spPr>
            <a:xfrm>
              <a:off x="2589675" y="1487300"/>
              <a:ext cx="1418400" cy="8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7090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Vorverarbeitung</a:t>
              </a:r>
              <a:endParaRPr b="0" i="0" sz="1400" u="none" cap="none" strike="noStrike">
                <a:solidFill>
                  <a:srgbClr val="000000"/>
                </a:solidFill>
                <a:latin typeface="Arial"/>
                <a:ea typeface="Arial"/>
                <a:cs typeface="Arial"/>
                <a:sym typeface="Arial"/>
              </a:endParaRPr>
            </a:p>
          </p:txBody>
        </p:sp>
      </p:grpSp>
      <p:grpSp>
        <p:nvGrpSpPr>
          <p:cNvPr id="103" name="Google Shape;103;g32c3cf94e98_6_153"/>
          <p:cNvGrpSpPr/>
          <p:nvPr/>
        </p:nvGrpSpPr>
        <p:grpSpPr>
          <a:xfrm>
            <a:off x="3936075" y="1487300"/>
            <a:ext cx="1861800" cy="810000"/>
            <a:chOff x="2074275" y="1487300"/>
            <a:chExt cx="1861800" cy="810000"/>
          </a:xfrm>
        </p:grpSpPr>
        <p:cxnSp>
          <p:nvCxnSpPr>
            <p:cNvPr id="104" name="Google Shape;104;g32c3cf94e98_6_153"/>
            <p:cNvCxnSpPr/>
            <p:nvPr/>
          </p:nvCxnSpPr>
          <p:spPr>
            <a:xfrm flipH="1" rot="10800000">
              <a:off x="2074275" y="1886900"/>
              <a:ext cx="515400" cy="5400"/>
            </a:xfrm>
            <a:prstGeom prst="straightConnector1">
              <a:avLst/>
            </a:prstGeom>
            <a:noFill/>
            <a:ln cap="flat" cmpd="sng" w="9525">
              <a:solidFill>
                <a:schemeClr val="dk2"/>
              </a:solidFill>
              <a:prstDash val="solid"/>
              <a:round/>
              <a:headEnd len="sm" w="sm" type="none"/>
              <a:tailEnd len="med" w="med" type="triangle"/>
            </a:ln>
          </p:spPr>
        </p:cxnSp>
        <p:sp>
          <p:nvSpPr>
            <p:cNvPr id="105" name="Google Shape;105;g32c3cf94e98_6_153"/>
            <p:cNvSpPr/>
            <p:nvPr/>
          </p:nvSpPr>
          <p:spPr>
            <a:xfrm>
              <a:off x="2589675" y="1487300"/>
              <a:ext cx="1346400" cy="8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Merkmale extrahieren</a:t>
              </a:r>
              <a:endParaRPr b="0" i="0" sz="1400" u="none" cap="none" strike="noStrike">
                <a:solidFill>
                  <a:srgbClr val="000000"/>
                </a:solidFill>
                <a:latin typeface="Arial"/>
                <a:ea typeface="Arial"/>
                <a:cs typeface="Arial"/>
                <a:sym typeface="Arial"/>
              </a:endParaRPr>
            </a:p>
          </p:txBody>
        </p:sp>
      </p:grpSp>
      <p:grpSp>
        <p:nvGrpSpPr>
          <p:cNvPr id="106" name="Google Shape;106;g32c3cf94e98_6_153"/>
          <p:cNvGrpSpPr/>
          <p:nvPr/>
        </p:nvGrpSpPr>
        <p:grpSpPr>
          <a:xfrm>
            <a:off x="5797875" y="1487300"/>
            <a:ext cx="1861800" cy="810000"/>
            <a:chOff x="2074275" y="1487300"/>
            <a:chExt cx="1861800" cy="810000"/>
          </a:xfrm>
        </p:grpSpPr>
        <p:cxnSp>
          <p:nvCxnSpPr>
            <p:cNvPr id="107" name="Google Shape;107;g32c3cf94e98_6_153"/>
            <p:cNvCxnSpPr/>
            <p:nvPr/>
          </p:nvCxnSpPr>
          <p:spPr>
            <a:xfrm flipH="1" rot="10800000">
              <a:off x="2074275" y="1886900"/>
              <a:ext cx="515400" cy="5400"/>
            </a:xfrm>
            <a:prstGeom prst="straightConnector1">
              <a:avLst/>
            </a:prstGeom>
            <a:noFill/>
            <a:ln cap="flat" cmpd="sng" w="9525">
              <a:solidFill>
                <a:schemeClr val="dk2"/>
              </a:solidFill>
              <a:prstDash val="solid"/>
              <a:round/>
              <a:headEnd len="sm" w="sm" type="none"/>
              <a:tailEnd len="med" w="med" type="triangle"/>
            </a:ln>
          </p:spPr>
        </p:cxnSp>
        <p:sp>
          <p:nvSpPr>
            <p:cNvPr id="108" name="Google Shape;108;g32c3cf94e98_6_153"/>
            <p:cNvSpPr/>
            <p:nvPr/>
          </p:nvSpPr>
          <p:spPr>
            <a:xfrm>
              <a:off x="2589675" y="1487300"/>
              <a:ext cx="1346400" cy="8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Modell trainieren</a:t>
              </a:r>
              <a:endParaRPr b="0" i="0" sz="1400" u="none" cap="none" strike="noStrike">
                <a:solidFill>
                  <a:srgbClr val="000000"/>
                </a:solidFill>
                <a:latin typeface="Arial"/>
                <a:ea typeface="Arial"/>
                <a:cs typeface="Arial"/>
                <a:sym typeface="Arial"/>
              </a:endParaRPr>
            </a:p>
          </p:txBody>
        </p:sp>
      </p:grpSp>
      <p:grpSp>
        <p:nvGrpSpPr>
          <p:cNvPr id="109" name="Google Shape;109;g32c3cf94e98_6_153"/>
          <p:cNvGrpSpPr/>
          <p:nvPr/>
        </p:nvGrpSpPr>
        <p:grpSpPr>
          <a:xfrm rot="5400000">
            <a:off x="6347075" y="2286800"/>
            <a:ext cx="1325400" cy="1346400"/>
            <a:chOff x="2074275" y="1216400"/>
            <a:chExt cx="1325400" cy="1346400"/>
          </a:xfrm>
        </p:grpSpPr>
        <p:cxnSp>
          <p:nvCxnSpPr>
            <p:cNvPr id="110" name="Google Shape;110;g32c3cf94e98_6_153"/>
            <p:cNvCxnSpPr/>
            <p:nvPr/>
          </p:nvCxnSpPr>
          <p:spPr>
            <a:xfrm flipH="1" rot="10800000">
              <a:off x="2074275" y="1886900"/>
              <a:ext cx="515400" cy="5400"/>
            </a:xfrm>
            <a:prstGeom prst="straightConnector1">
              <a:avLst/>
            </a:prstGeom>
            <a:noFill/>
            <a:ln cap="flat" cmpd="sng" w="9525">
              <a:solidFill>
                <a:schemeClr val="dk2"/>
              </a:solidFill>
              <a:prstDash val="solid"/>
              <a:round/>
              <a:headEnd len="sm" w="sm" type="none"/>
              <a:tailEnd len="med" w="med" type="triangle"/>
            </a:ln>
          </p:spPr>
        </p:cxnSp>
        <p:sp>
          <p:nvSpPr>
            <p:cNvPr id="111" name="Google Shape;111;g32c3cf94e98_6_153"/>
            <p:cNvSpPr/>
            <p:nvPr/>
          </p:nvSpPr>
          <p:spPr>
            <a:xfrm rot="-5400000">
              <a:off x="2321475" y="1484600"/>
              <a:ext cx="1346400" cy="8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Modell bewerten</a:t>
              </a:r>
              <a:endParaRPr b="0" i="0" sz="1400" u="none" cap="none" strike="noStrike">
                <a:solidFill>
                  <a:srgbClr val="000000"/>
                </a:solidFill>
                <a:latin typeface="Arial"/>
                <a:ea typeface="Arial"/>
                <a:cs typeface="Arial"/>
                <a:sym typeface="Arial"/>
              </a:endParaRPr>
            </a:p>
          </p:txBody>
        </p:sp>
      </p:grpSp>
      <p:cxnSp>
        <p:nvCxnSpPr>
          <p:cNvPr id="112" name="Google Shape;112;g32c3cf94e98_6_153"/>
          <p:cNvCxnSpPr/>
          <p:nvPr/>
        </p:nvCxnSpPr>
        <p:spPr>
          <a:xfrm flipH="1">
            <a:off x="1396425" y="2297300"/>
            <a:ext cx="9300" cy="492900"/>
          </a:xfrm>
          <a:prstGeom prst="straightConnector1">
            <a:avLst/>
          </a:prstGeom>
          <a:noFill/>
          <a:ln cap="flat" cmpd="sng" w="9525">
            <a:solidFill>
              <a:schemeClr val="dk2"/>
            </a:solidFill>
            <a:prstDash val="solid"/>
            <a:round/>
            <a:headEnd len="sm" w="sm" type="none"/>
            <a:tailEnd len="med" w="med" type="triangle"/>
          </a:ln>
        </p:spPr>
      </p:cxnSp>
      <p:sp>
        <p:nvSpPr>
          <p:cNvPr id="113" name="Google Shape;113;g32c3cf94e98_6_153"/>
          <p:cNvSpPr/>
          <p:nvPr/>
        </p:nvSpPr>
        <p:spPr>
          <a:xfrm>
            <a:off x="727875" y="2790200"/>
            <a:ext cx="1346400" cy="8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Annotation (falls nötig)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392"/>
          </a:srgbClr>
        </a:solidFill>
      </p:bgPr>
    </p:bg>
    <p:spTree>
      <p:nvGrpSpPr>
        <p:cNvPr id="118" name="Shape 118"/>
        <p:cNvGrpSpPr/>
        <p:nvPr/>
      </p:nvGrpSpPr>
      <p:grpSpPr>
        <a:xfrm>
          <a:off x="0" y="0"/>
          <a:ext cx="0" cy="0"/>
          <a:chOff x="0" y="0"/>
          <a:chExt cx="0" cy="0"/>
        </a:xfrm>
      </p:grpSpPr>
      <p:sp>
        <p:nvSpPr>
          <p:cNvPr id="119" name="Google Shape;119;g3189839d5e5_0_77"/>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SzPts val="2300"/>
              <a:buAutoNum type="arabicPeriod"/>
            </a:pPr>
            <a:r>
              <a:rPr lang="en-US" sz="2300">
                <a:solidFill>
                  <a:schemeClr val="dk1"/>
                </a:solidFill>
              </a:rPr>
              <a:t>Datenerfassung</a:t>
            </a:r>
            <a:endParaRPr b="0" i="0" sz="2300" u="none" cap="none" strike="noStrike">
              <a:solidFill>
                <a:srgbClr val="000000"/>
              </a:solidFill>
              <a:latin typeface="Arial"/>
              <a:ea typeface="Arial"/>
              <a:cs typeface="Arial"/>
              <a:sym typeface="Arial"/>
            </a:endParaRPr>
          </a:p>
        </p:txBody>
      </p:sp>
      <p:sp>
        <p:nvSpPr>
          <p:cNvPr id="120" name="Google Shape;120;g3189839d5e5_0_77"/>
          <p:cNvSpPr txBox="1"/>
          <p:nvPr/>
        </p:nvSpPr>
        <p:spPr>
          <a:xfrm>
            <a:off x="769650" y="977025"/>
            <a:ext cx="7604700" cy="3657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Sammeln von Textdatenquellen:</a:t>
            </a:r>
            <a:endParaRPr b="1"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Web Scraping:</a:t>
            </a:r>
            <a:r>
              <a:rPr lang="en-US">
                <a:solidFill>
                  <a:schemeClr val="dk1"/>
                </a:solidFill>
              </a:rPr>
              <a:t> Blogs, Foren, Social Media, Webseiten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Öffentliche Datensätze: </a:t>
            </a:r>
            <a:r>
              <a:rPr lang="en-US">
                <a:solidFill>
                  <a:schemeClr val="dk1"/>
                </a:solidFill>
              </a:rPr>
              <a:t>Open Repositories (z.B. Kaggle, UCI, Hugging Face Datasets)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APIs: </a:t>
            </a:r>
            <a:r>
              <a:rPr lang="en-US">
                <a:solidFill>
                  <a:schemeClr val="dk1"/>
                </a:solidFill>
              </a:rPr>
              <a:t>Social Media APIs (z.B. Twitter API), Nachrichten APIs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Interne/Proprietäre Daten: </a:t>
            </a:r>
            <a:r>
              <a:rPr lang="en-US">
                <a:solidFill>
                  <a:schemeClr val="dk1"/>
                </a:solidFill>
              </a:rPr>
              <a:t>Kundenbewertungen, E-Mails, Chat-Logs</a:t>
            </a:r>
            <a:endParaRPr>
              <a:solidFill>
                <a:schemeClr val="dk1"/>
              </a:solidFil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Korpora aus Literatur: </a:t>
            </a:r>
            <a:r>
              <a:rPr lang="en-US">
                <a:solidFill>
                  <a:schemeClr val="dk1"/>
                </a:solidFill>
              </a:rPr>
              <a:t>Bücher, Forschungsarbeiten, Wikipedia</a:t>
            </a:r>
            <a:endParaRPr>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Herausforderungen:</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Datenqualität:</a:t>
            </a:r>
            <a:r>
              <a:rPr lang="en-US">
                <a:solidFill>
                  <a:schemeClr val="dk1"/>
                </a:solidFill>
              </a:rPr>
              <a:t> Rauschen oder unvollständiger Text (meist gut handhabbar)</a:t>
            </a:r>
            <a:endParaRPr>
              <a:solidFill>
                <a:schemeClr val="dk1"/>
              </a:solidFil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Rechtliche/Ethische Aspekte: </a:t>
            </a:r>
            <a:r>
              <a:rPr lang="en-US">
                <a:solidFill>
                  <a:schemeClr val="dk1"/>
                </a:solidFill>
              </a:rPr>
              <a:t>Datenschutz, Urheberrecht</a:t>
            </a:r>
            <a:endParaRPr>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i="0" sz="1400" u="none" cap="none" strike="noStrike">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392"/>
          </a:srgbClr>
        </a:solidFill>
      </p:bgPr>
    </p:bg>
    <p:spTree>
      <p:nvGrpSpPr>
        <p:cNvPr id="125" name="Shape 125"/>
        <p:cNvGrpSpPr/>
        <p:nvPr/>
      </p:nvGrpSpPr>
      <p:grpSpPr>
        <a:xfrm>
          <a:off x="0" y="0"/>
          <a:ext cx="0" cy="0"/>
          <a:chOff x="0" y="0"/>
          <a:chExt cx="0" cy="0"/>
        </a:xfrm>
      </p:grpSpPr>
      <p:sp>
        <p:nvSpPr>
          <p:cNvPr id="126" name="Google Shape;126;g3189839d5e5_0_85"/>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2. Annotation</a:t>
            </a:r>
            <a:endParaRPr b="0" i="0" sz="2300" u="none" cap="none" strike="noStrike">
              <a:solidFill>
                <a:srgbClr val="000000"/>
              </a:solidFill>
              <a:latin typeface="Arial"/>
              <a:ea typeface="Arial"/>
              <a:cs typeface="Arial"/>
              <a:sym typeface="Arial"/>
            </a:endParaRPr>
          </a:p>
        </p:txBody>
      </p:sp>
      <p:sp>
        <p:nvSpPr>
          <p:cNvPr id="127" name="Google Shape;127;g3189839d5e5_0_85"/>
          <p:cNvSpPr txBox="1"/>
          <p:nvPr/>
        </p:nvSpPr>
        <p:spPr>
          <a:xfrm>
            <a:off x="769650" y="1432650"/>
            <a:ext cx="7604700" cy="31317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US">
                <a:solidFill>
                  <a:schemeClr val="dk1"/>
                </a:solidFill>
              </a:rPr>
              <a:t>Was ist Annotation?</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Rohtext mit Labels versehen, um strukturierte Datensätze für Machine Learning zu erstellen.</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Häufige Annotationstypen:</a:t>
            </a:r>
            <a:endParaRPr b="1">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Textklassifikation</a:t>
            </a:r>
            <a:r>
              <a:rPr lang="en-US">
                <a:solidFill>
                  <a:schemeClr val="dk1"/>
                </a:solidFill>
              </a:rPr>
              <a:t>: Sentiment, Thema, Spam-Erkennung</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Named Entity Recognition (NER):</a:t>
            </a:r>
            <a:r>
              <a:rPr lang="en-US">
                <a:solidFill>
                  <a:schemeClr val="dk1"/>
                </a:solidFill>
              </a:rPr>
              <a:t> Erkennung von Namen, Daten, Orten</a:t>
            </a:r>
            <a:endParaRPr>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rPr b="1" lang="en-US">
                <a:solidFill>
                  <a:schemeClr val="dk1"/>
                </a:solidFill>
              </a:rPr>
              <a:t>Part-of-Speech (POS) Tagging: </a:t>
            </a:r>
            <a:r>
              <a:rPr lang="en-US">
                <a:solidFill>
                  <a:schemeClr val="dk1"/>
                </a:solidFill>
              </a:rPr>
              <a:t>Grammatische Wortarten zuordnen</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392"/>
          </a:srgbClr>
        </a:solidFill>
      </p:bgPr>
    </p:bg>
    <p:spTree>
      <p:nvGrpSpPr>
        <p:cNvPr id="132" name="Shape 132"/>
        <p:cNvGrpSpPr/>
        <p:nvPr/>
      </p:nvGrpSpPr>
      <p:grpSpPr>
        <a:xfrm>
          <a:off x="0" y="0"/>
          <a:ext cx="0" cy="0"/>
          <a:chOff x="0" y="0"/>
          <a:chExt cx="0" cy="0"/>
        </a:xfrm>
      </p:grpSpPr>
      <p:sp>
        <p:nvSpPr>
          <p:cNvPr id="133" name="Google Shape;133;g3189839d5e5_0_93"/>
          <p:cNvSpPr txBox="1"/>
          <p:nvPr/>
        </p:nvSpPr>
        <p:spPr>
          <a:xfrm>
            <a:off x="769650" y="1005900"/>
            <a:ext cx="7604700" cy="31317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US">
                <a:solidFill>
                  <a:schemeClr val="dk1"/>
                </a:solidFill>
              </a:rPr>
              <a:t>Annotationsmethoden:</a:t>
            </a:r>
            <a:endParaRPr b="1">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Manuelle Annotation: </a:t>
            </a:r>
            <a:r>
              <a:rPr lang="en-US">
                <a:solidFill>
                  <a:schemeClr val="dk1"/>
                </a:solidFill>
              </a:rPr>
              <a:t>Menschen mit Tools wie Label Studio, Prodigy oder firmeneigenen Lösungen</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Crowdsourcing: </a:t>
            </a:r>
            <a:r>
              <a:rPr lang="en-US">
                <a:solidFill>
                  <a:schemeClr val="dk1"/>
                </a:solidFill>
              </a:rPr>
              <a:t>Plattformen wie Amazon Mechanical Turk, CrowdFlower</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Herausforderungen:</a:t>
            </a:r>
            <a:endParaRPr b="1">
              <a:solidFill>
                <a:schemeClr val="dk1"/>
              </a:solidFill>
            </a:endParaRPr>
          </a:p>
          <a:p>
            <a:pPr indent="-317500" lvl="0" marL="457200" rtl="0" algn="l">
              <a:spcBef>
                <a:spcPts val="1200"/>
              </a:spcBef>
              <a:spcAft>
                <a:spcPts val="0"/>
              </a:spcAft>
              <a:buClr>
                <a:schemeClr val="dk1"/>
              </a:buClr>
              <a:buSzPts val="1400"/>
              <a:buChar char="●"/>
            </a:pPr>
            <a:r>
              <a:rPr lang="en-US">
                <a:solidFill>
                  <a:schemeClr val="dk1"/>
                </a:solidFill>
              </a:rPr>
              <a:t>Subjektivität bei der Kennzeichnung</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Konsistenz der Annotatoren</a:t>
            </a:r>
            <a:endParaRPr>
              <a:solidFill>
                <a:schemeClr val="dk1"/>
              </a:solidFill>
            </a:endParaRPr>
          </a:p>
          <a:p>
            <a:pPr indent="-317500" lvl="0" marL="457200" marR="0" rtl="0" algn="l">
              <a:lnSpc>
                <a:spcPct val="100000"/>
              </a:lnSpc>
              <a:spcBef>
                <a:spcPts val="0"/>
              </a:spcBef>
              <a:spcAft>
                <a:spcPts val="0"/>
              </a:spcAft>
              <a:buClr>
                <a:schemeClr val="dk1"/>
              </a:buClr>
              <a:buSzPts val="1400"/>
              <a:buChar char="●"/>
            </a:pPr>
            <a:r>
              <a:rPr lang="en-US">
                <a:solidFill>
                  <a:schemeClr val="dk1"/>
                </a:solidFill>
              </a:rPr>
              <a:t>Kosten und Zeitaufwand</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775F6E"/>
        </a:solidFill>
      </p:bgPr>
    </p:bg>
    <p:spTree>
      <p:nvGrpSpPr>
        <p:cNvPr id="138" name="Shape 138"/>
        <p:cNvGrpSpPr/>
        <p:nvPr/>
      </p:nvGrpSpPr>
      <p:grpSpPr>
        <a:xfrm>
          <a:off x="0" y="0"/>
          <a:ext cx="0" cy="0"/>
          <a:chOff x="0" y="0"/>
          <a:chExt cx="0" cy="0"/>
        </a:xfrm>
      </p:grpSpPr>
      <p:sp>
        <p:nvSpPr>
          <p:cNvPr id="139" name="Google Shape;139;g3189839d5e5_0_29"/>
          <p:cNvSpPr/>
          <p:nvPr/>
        </p:nvSpPr>
        <p:spPr>
          <a:xfrm>
            <a:off x="1685025" y="2195400"/>
            <a:ext cx="5248200" cy="7527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chemeClr val="dk1"/>
              </a:buClr>
              <a:buSzPts val="1100"/>
              <a:buFont typeface="Arial"/>
              <a:buNone/>
            </a:pPr>
            <a:r>
              <a:rPr lang="en-US" sz="3400">
                <a:solidFill>
                  <a:srgbClr val="FFFFFF"/>
                </a:solidFill>
              </a:rPr>
              <a:t>Vorverarbeitung</a:t>
            </a:r>
            <a:endParaRPr b="0" i="0" sz="3400" u="none" cap="none" strike="noStrike">
              <a:solidFill>
                <a:srgbClr val="FFFFFF"/>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44" name="Shape 144"/>
        <p:cNvGrpSpPr/>
        <p:nvPr/>
      </p:nvGrpSpPr>
      <p:grpSpPr>
        <a:xfrm>
          <a:off x="0" y="0"/>
          <a:ext cx="0" cy="0"/>
          <a:chOff x="0" y="0"/>
          <a:chExt cx="0" cy="0"/>
        </a:xfrm>
      </p:grpSpPr>
      <p:sp>
        <p:nvSpPr>
          <p:cNvPr id="145" name="Google Shape;145;g2e63b4b50a3_0_62"/>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3. Vorverarbeitung</a:t>
            </a:r>
            <a:endParaRPr b="0" i="0" sz="2300" u="none" cap="none" strike="noStrike">
              <a:solidFill>
                <a:srgbClr val="000000"/>
              </a:solidFill>
              <a:latin typeface="Arial"/>
              <a:ea typeface="Arial"/>
              <a:cs typeface="Arial"/>
              <a:sym typeface="Arial"/>
            </a:endParaRPr>
          </a:p>
        </p:txBody>
      </p:sp>
      <p:sp>
        <p:nvSpPr>
          <p:cNvPr id="146" name="Google Shape;146;g2e63b4b50a3_0_62"/>
          <p:cNvSpPr txBox="1"/>
          <p:nvPr/>
        </p:nvSpPr>
        <p:spPr>
          <a:xfrm>
            <a:off x="601650" y="1156950"/>
            <a:ext cx="7604700" cy="329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Die </a:t>
            </a:r>
            <a:r>
              <a:rPr b="1" lang="en-US">
                <a:solidFill>
                  <a:schemeClr val="dk1"/>
                </a:solidFill>
              </a:rPr>
              <a:t>Vorverarbeitung </a:t>
            </a:r>
            <a:r>
              <a:rPr lang="en-US">
                <a:solidFill>
                  <a:schemeClr val="dk1"/>
                </a:solidFill>
              </a:rPr>
              <a:t>ist der erste Schritt im NLP, bei dem der Rohtext in ein sauberes, strukturiertes und für die Analyse geeignetes Format umgewandelt wird.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Welche Bedeutung hat die Textvorverarbeitung?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Sie entfernt Rauschen und bereitet den Text für die Modellierung vor.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Der Umfang der erforderlichen Vorverarbeitung hängt von der Art des verwendeten maschinellen Lernmodells ab.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Als Faustregel gilt, dass einfachere Modelle mehr Vorverarbeitung benötigen, während komplexere Modelle wie Deep Learning-Modelle (CNNs, LSTMs, Transformers) weniger Textvorverarbeitung erfordern.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i="1" sz="11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51" name="Shape 151"/>
        <p:cNvGrpSpPr/>
        <p:nvPr/>
      </p:nvGrpSpPr>
      <p:grpSpPr>
        <a:xfrm>
          <a:off x="0" y="0"/>
          <a:ext cx="0" cy="0"/>
          <a:chOff x="0" y="0"/>
          <a:chExt cx="0" cy="0"/>
        </a:xfrm>
      </p:grpSpPr>
      <p:sp>
        <p:nvSpPr>
          <p:cNvPr id="152" name="Google Shape;152;g2e63b4b50a3_0_70"/>
          <p:cNvSpPr txBox="1"/>
          <p:nvPr/>
        </p:nvSpPr>
        <p:spPr>
          <a:xfrm>
            <a:off x="601650" y="818250"/>
            <a:ext cx="7604700" cy="350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Je nach verwendetem Modell gibt es unterschiedliche Techniken für die Vorverarbeitung.</a:t>
            </a:r>
            <a:endParaRPr>
              <a:solidFill>
                <a:schemeClr val="dk1"/>
              </a:solidFill>
            </a:endParaRPr>
          </a:p>
          <a:p>
            <a:pPr indent="0" lvl="0" marL="0" rtl="0" algn="l">
              <a:lnSpc>
                <a:spcPct val="115000"/>
              </a:lnSpc>
              <a:spcBef>
                <a:spcPts val="1200"/>
              </a:spcBef>
              <a:spcAft>
                <a:spcPts val="0"/>
              </a:spcAft>
              <a:buNone/>
            </a:pPr>
            <a:br>
              <a:rPr lang="en-US">
                <a:solidFill>
                  <a:schemeClr val="dk1"/>
                </a:solidFill>
              </a:rPr>
            </a:br>
            <a:r>
              <a:rPr lang="en-US">
                <a:solidFill>
                  <a:schemeClr val="dk1"/>
                </a:solidFill>
              </a:rPr>
              <a:t>In einem typischen NLP-Problem werden jedoch üblicherweise folgende Schritte in dieser Reihenfolge angewendet:</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Textreinigung (aufgabenspezifisch)</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Tokenisierung</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Stoppwortentfernung (aufgabenspezifisch)</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Stemming (aufgabenspezifisch) / Lemmatisierung (aufgabenspezifisch)</a:t>
            </a:r>
            <a:endParaRPr>
              <a:solidFill>
                <a:schemeClr val="dk1"/>
              </a:solidFill>
            </a:endParaRPr>
          </a:p>
          <a:p>
            <a:pPr indent="457200" lvl="0" marL="0" rtl="0" algn="l">
              <a:lnSpc>
                <a:spcPct val="115000"/>
              </a:lnSpc>
              <a:spcBef>
                <a:spcPts val="1200"/>
              </a:spcBef>
              <a:spcAft>
                <a:spcPts val="0"/>
              </a:spcAft>
              <a:buNone/>
            </a:pPr>
            <a:br>
              <a:rPr lang="en-US">
                <a:solidFill>
                  <a:schemeClr val="dk1"/>
                </a:solidFill>
              </a:rPr>
            </a:br>
            <a:r>
              <a:rPr lang="en-US">
                <a:solidFill>
                  <a:schemeClr val="dk1"/>
                </a:solidFill>
              </a:rPr>
              <a:t> „Aufgabenspezifisch“ bedeutet, dass diese Techniken nicht immer notwendig sind; ihr Einsatz hängt vom Modell und der jeweiligen Aufgabe ab.</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den folgenden Folien werden wir jede dieser Techniken im Detail genauer betrachten.</a:t>
            </a:r>
            <a:endParaRPr>
              <a:solidFill>
                <a:schemeClr val="dk1"/>
              </a:solidFill>
            </a:endParaRPr>
          </a:p>
          <a:p>
            <a:pPr indent="0" lvl="0" marL="0" marR="0" rtl="0" algn="l">
              <a:lnSpc>
                <a:spcPct val="115000"/>
              </a:lnSpc>
              <a:spcBef>
                <a:spcPts val="1200"/>
              </a:spcBef>
              <a:spcAft>
                <a:spcPts val="0"/>
              </a:spcAft>
              <a:buClr>
                <a:srgbClr val="000000"/>
              </a:buClr>
              <a:buSzPts val="1400"/>
              <a:buFont typeface="Arial"/>
              <a:buNone/>
            </a:pPr>
            <a:r>
              <a:t/>
            </a:r>
            <a:endParaRPr>
              <a:solidFill>
                <a:schemeClr val="dk1"/>
              </a:solidFill>
            </a:endParaRPr>
          </a:p>
          <a:p>
            <a:pPr indent="0" lvl="0" marL="45720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57" name="Shape 157"/>
        <p:cNvGrpSpPr/>
        <p:nvPr/>
      </p:nvGrpSpPr>
      <p:grpSpPr>
        <a:xfrm>
          <a:off x="0" y="0"/>
          <a:ext cx="0" cy="0"/>
          <a:chOff x="0" y="0"/>
          <a:chExt cx="0" cy="0"/>
        </a:xfrm>
      </p:grpSpPr>
      <p:sp>
        <p:nvSpPr>
          <p:cNvPr id="158" name="Google Shape;158;g2e63b4b50a3_0_12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3.1 Vorverarbeitung: Textbereinigung</a:t>
            </a:r>
            <a:endParaRPr b="0" i="0" sz="2300" u="none" cap="none" strike="noStrike">
              <a:solidFill>
                <a:srgbClr val="000000"/>
              </a:solidFill>
              <a:latin typeface="Arial"/>
              <a:ea typeface="Arial"/>
              <a:cs typeface="Arial"/>
              <a:sym typeface="Arial"/>
            </a:endParaRPr>
          </a:p>
        </p:txBody>
      </p:sp>
      <p:sp>
        <p:nvSpPr>
          <p:cNvPr id="159" name="Google Shape;159;g2e63b4b50a3_0_126"/>
          <p:cNvSpPr txBox="1"/>
          <p:nvPr/>
        </p:nvSpPr>
        <p:spPr>
          <a:xfrm>
            <a:off x="601650" y="1034950"/>
            <a:ext cx="7604700" cy="36225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US">
                <a:solidFill>
                  <a:schemeClr val="dk1"/>
                </a:solidFill>
              </a:rPr>
              <a:t>Kleinschreibung</a:t>
            </a:r>
            <a:endParaRPr b="1">
              <a:solidFill>
                <a:schemeClr val="dk1"/>
              </a:solidFill>
            </a:endParaRPr>
          </a:p>
          <a:p>
            <a:pPr indent="-317500" lvl="0" marL="457200" rtl="0" algn="l">
              <a:spcBef>
                <a:spcPts val="1200"/>
              </a:spcBef>
              <a:spcAft>
                <a:spcPts val="0"/>
              </a:spcAft>
              <a:buClr>
                <a:schemeClr val="dk1"/>
              </a:buClr>
              <a:buSzPts val="1400"/>
              <a:buChar char="●"/>
            </a:pPr>
            <a:r>
              <a:rPr b="1" lang="en-US">
                <a:solidFill>
                  <a:schemeClr val="dk1"/>
                </a:solidFill>
              </a:rPr>
              <a:t>Original: </a:t>
            </a:r>
            <a:r>
              <a:rPr lang="en-US">
                <a:solidFill>
                  <a:schemeClr val="dk1"/>
                </a:solidFill>
              </a:rPr>
              <a:t>„The Book Was Amazing!“</a:t>
            </a: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Kleingeschrieben: </a:t>
            </a:r>
            <a:r>
              <a:rPr lang="en-US">
                <a:solidFill>
                  <a:schemeClr val="dk1"/>
                </a:solidFill>
              </a:rPr>
              <a:t>„the book was amazing!“</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Entfernen von Satzzeichen</a:t>
            </a:r>
            <a:endParaRPr b="1">
              <a:solidFill>
                <a:schemeClr val="dk1"/>
              </a:solidFill>
            </a:endParaRPr>
          </a:p>
          <a:p>
            <a:pPr indent="-317500" lvl="0" marL="457200" rtl="0" algn="l">
              <a:spcBef>
                <a:spcPts val="1200"/>
              </a:spcBef>
              <a:spcAft>
                <a:spcPts val="0"/>
              </a:spcAft>
              <a:buClr>
                <a:schemeClr val="dk1"/>
              </a:buClr>
              <a:buSzPts val="1400"/>
              <a:buChar char="●"/>
            </a:pPr>
            <a:r>
              <a:rPr b="1" lang="en-US">
                <a:solidFill>
                  <a:schemeClr val="dk1"/>
                </a:solidFill>
              </a:rPr>
              <a:t>Original: </a:t>
            </a:r>
            <a:r>
              <a:rPr lang="en-US">
                <a:solidFill>
                  <a:schemeClr val="dk1"/>
                </a:solidFill>
              </a:rPr>
              <a:t>„Hello, world!“</a:t>
            </a:r>
            <a:endParaRPr>
              <a:solidFill>
                <a:schemeClr val="dk1"/>
              </a:solidFill>
            </a:endParaRPr>
          </a:p>
          <a:p>
            <a:pPr indent="-317500" lvl="0" marL="457200" rtl="0" algn="l">
              <a:spcBef>
                <a:spcPts val="0"/>
              </a:spcBef>
              <a:spcAft>
                <a:spcPts val="0"/>
              </a:spcAft>
              <a:buClr>
                <a:schemeClr val="dk1"/>
              </a:buClr>
              <a:buSzPts val="1400"/>
              <a:buChar char="●"/>
            </a:pPr>
            <a:r>
              <a:rPr b="1" lang="en-US">
                <a:solidFill>
                  <a:schemeClr val="dk1"/>
                </a:solidFill>
              </a:rPr>
              <a:t>Ohne Satzzeichen: </a:t>
            </a:r>
            <a:r>
              <a:rPr lang="en-US">
                <a:solidFill>
                  <a:schemeClr val="dk1"/>
                </a:solidFill>
              </a:rPr>
              <a:t>„Hello world“</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Entfernen von Zahlen</a:t>
            </a:r>
            <a:endParaRPr b="1">
              <a:solidFill>
                <a:schemeClr val="dk1"/>
              </a:solidFill>
            </a:endParaRPr>
          </a:p>
          <a:p>
            <a:pPr indent="-317500" lvl="0" marL="457200" rtl="0" algn="l">
              <a:spcBef>
                <a:spcPts val="1200"/>
              </a:spcBef>
              <a:spcAft>
                <a:spcPts val="0"/>
              </a:spcAft>
              <a:buClr>
                <a:schemeClr val="dk1"/>
              </a:buClr>
              <a:buSzPts val="1400"/>
              <a:buChar char="●"/>
            </a:pPr>
            <a:r>
              <a:rPr b="1" lang="en-US">
                <a:solidFill>
                  <a:schemeClr val="dk1"/>
                </a:solidFill>
              </a:rPr>
              <a:t>Original: </a:t>
            </a:r>
            <a:r>
              <a:rPr lang="en-US">
                <a:solidFill>
                  <a:schemeClr val="dk1"/>
                </a:solidFill>
              </a:rPr>
              <a:t>„I have 2 cats and 3 dogs.“</a:t>
            </a:r>
            <a:endParaRPr>
              <a:solidFill>
                <a:schemeClr val="dk1"/>
              </a:solidFill>
            </a:endParaRPr>
          </a:p>
          <a:p>
            <a:pPr indent="-317500" lvl="0" marL="457200" marR="0" rtl="0" algn="l">
              <a:lnSpc>
                <a:spcPct val="100000"/>
              </a:lnSpc>
              <a:spcBef>
                <a:spcPts val="0"/>
              </a:spcBef>
              <a:spcAft>
                <a:spcPts val="0"/>
              </a:spcAft>
              <a:buClr>
                <a:schemeClr val="dk1"/>
              </a:buClr>
              <a:buSzPts val="1400"/>
              <a:buChar char="●"/>
            </a:pPr>
            <a:r>
              <a:rPr b="1" lang="en-US">
                <a:solidFill>
                  <a:schemeClr val="dk1"/>
                </a:solidFill>
              </a:rPr>
              <a:t>Ohne Zahlen: </a:t>
            </a:r>
            <a:r>
              <a:rPr lang="en-US">
                <a:solidFill>
                  <a:schemeClr val="dk1"/>
                </a:solidFill>
              </a:rPr>
              <a:t>„I have cats and dogs.“</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64" name="Shape 164"/>
        <p:cNvGrpSpPr/>
        <p:nvPr/>
      </p:nvGrpSpPr>
      <p:grpSpPr>
        <a:xfrm>
          <a:off x="0" y="0"/>
          <a:ext cx="0" cy="0"/>
          <a:chOff x="0" y="0"/>
          <a:chExt cx="0" cy="0"/>
        </a:xfrm>
      </p:grpSpPr>
      <p:sp>
        <p:nvSpPr>
          <p:cNvPr id="165" name="Google Shape;165;g2e63b4b50a3_0_77"/>
          <p:cNvSpPr txBox="1"/>
          <p:nvPr/>
        </p:nvSpPr>
        <p:spPr>
          <a:xfrm>
            <a:off x="611325" y="442575"/>
            <a:ext cx="4680600" cy="387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Entfernen von überflüssigen Leerzeichen</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Original:</a:t>
            </a:r>
            <a:r>
              <a:rPr b="0" i="0" lang="en-US" sz="1400" u="none" cap="none" strike="noStrike">
                <a:solidFill>
                  <a:schemeClr val="dk1"/>
                </a:solidFill>
                <a:latin typeface="Arial"/>
                <a:ea typeface="Arial"/>
                <a:cs typeface="Arial"/>
                <a:sym typeface="Arial"/>
              </a:rPr>
              <a:t> "Hello world! "</a:t>
            </a:r>
            <a:br>
              <a:rPr b="0" i="0" lang="en-US" sz="1400" u="none" cap="none" strike="noStrike">
                <a:solidFill>
                  <a:schemeClr val="dk1"/>
                </a:solidFill>
                <a:latin typeface="Arial"/>
                <a:ea typeface="Arial"/>
                <a:cs typeface="Arial"/>
                <a:sym typeface="Arial"/>
              </a:rPr>
            </a:br>
            <a:r>
              <a:rPr b="1" lang="en-US">
                <a:solidFill>
                  <a:schemeClr val="dk1"/>
                </a:solidFill>
              </a:rPr>
              <a:t>Ohne</a:t>
            </a:r>
            <a:r>
              <a:rPr b="1" i="0" lang="en-US" sz="1400" u="none" cap="none" strike="noStrike">
                <a:solidFill>
                  <a:schemeClr val="dk1"/>
                </a:solidFill>
                <a:latin typeface="Arial"/>
                <a:ea typeface="Arial"/>
                <a:cs typeface="Arial"/>
                <a:sym typeface="Arial"/>
              </a:rPr>
              <a:t> Extra Space:</a:t>
            </a:r>
            <a:r>
              <a:rPr b="0" i="0" lang="en-US" sz="1400" u="none" cap="none" strike="noStrike">
                <a:solidFill>
                  <a:schemeClr val="dk1"/>
                </a:solidFill>
                <a:latin typeface="Arial"/>
                <a:ea typeface="Arial"/>
                <a:cs typeface="Arial"/>
                <a:sym typeface="Arial"/>
              </a:rPr>
              <a:t> "Hello world!"</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Entfernen von </a:t>
            </a:r>
            <a:r>
              <a:rPr b="1" i="0" lang="en-US" sz="1400" u="none" cap="none" strike="noStrike">
                <a:solidFill>
                  <a:schemeClr val="dk1"/>
                </a:solidFill>
                <a:latin typeface="Arial"/>
                <a:ea typeface="Arial"/>
                <a:cs typeface="Arial"/>
                <a:sym typeface="Arial"/>
              </a:rPr>
              <a:t>Emojis</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Original:</a:t>
            </a:r>
            <a:r>
              <a:rPr b="0" i="0" lang="en-US" sz="1400" u="none" cap="none" strike="noStrike">
                <a:solidFill>
                  <a:schemeClr val="dk1"/>
                </a:solidFill>
                <a:latin typeface="Arial"/>
                <a:ea typeface="Arial"/>
                <a:cs typeface="Arial"/>
                <a:sym typeface="Arial"/>
              </a:rPr>
              <a:t> "I love pizza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Ohne</a:t>
            </a:r>
            <a:r>
              <a:rPr b="1" i="0" lang="en-US" sz="1400" u="none" cap="none" strike="noStrike">
                <a:solidFill>
                  <a:schemeClr val="dk1"/>
                </a:solidFill>
                <a:latin typeface="Arial"/>
                <a:ea typeface="Arial"/>
                <a:cs typeface="Arial"/>
                <a:sym typeface="Arial"/>
              </a:rPr>
              <a:t> Emojis:</a:t>
            </a:r>
            <a:r>
              <a:rPr b="0" i="0" lang="en-US" sz="1400" u="none" cap="none" strike="noStrike">
                <a:solidFill>
                  <a:schemeClr val="dk1"/>
                </a:solidFill>
                <a:latin typeface="Arial"/>
                <a:ea typeface="Arial"/>
                <a:cs typeface="Arial"/>
                <a:sym typeface="Arial"/>
              </a:rPr>
              <a:t> "I love pizza!"</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Entfernen von</a:t>
            </a:r>
            <a:r>
              <a:rPr b="1" i="0" lang="en-US" sz="1400" u="none" cap="none" strike="noStrike">
                <a:solidFill>
                  <a:schemeClr val="dk1"/>
                </a:solidFill>
                <a:latin typeface="Arial"/>
                <a:ea typeface="Arial"/>
                <a:cs typeface="Arial"/>
                <a:sym typeface="Arial"/>
              </a:rPr>
              <a:t> Emoticons</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Original:</a:t>
            </a:r>
            <a:r>
              <a:rPr b="0" i="0" lang="en-US" sz="1400" u="none" cap="none" strike="noStrike">
                <a:solidFill>
                  <a:schemeClr val="dk1"/>
                </a:solidFill>
                <a:latin typeface="Arial"/>
                <a:ea typeface="Arial"/>
                <a:cs typeface="Arial"/>
                <a:sym typeface="Arial"/>
              </a:rPr>
              <a:t> "I'm happy :)"</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Ohne</a:t>
            </a:r>
            <a:r>
              <a:rPr b="1" i="0" lang="en-US" sz="1400" u="none" cap="none" strike="noStrike">
                <a:solidFill>
                  <a:schemeClr val="dk1"/>
                </a:solidFill>
                <a:latin typeface="Arial"/>
                <a:ea typeface="Arial"/>
                <a:cs typeface="Arial"/>
                <a:sym typeface="Arial"/>
              </a:rPr>
              <a:t> Emoticons:</a:t>
            </a:r>
            <a:r>
              <a:rPr b="0" i="0" lang="en-US" sz="1400" u="none" cap="none" strike="noStrike">
                <a:solidFill>
                  <a:schemeClr val="dk1"/>
                </a:solidFill>
                <a:latin typeface="Arial"/>
                <a:ea typeface="Arial"/>
                <a:cs typeface="Arial"/>
                <a:sym typeface="Arial"/>
              </a:rPr>
              <a:t> "I'm happy"</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Entfernen von Kontraktionen</a:t>
            </a:r>
            <a:endParaRPr b="1"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Original:</a:t>
            </a:r>
            <a:r>
              <a:rPr b="0" i="0" lang="en-US" sz="1400" u="none" cap="none" strike="noStrike">
                <a:solidFill>
                  <a:schemeClr val="dk1"/>
                </a:solidFill>
                <a:latin typeface="Arial"/>
                <a:ea typeface="Arial"/>
                <a:cs typeface="Arial"/>
                <a:sym typeface="Arial"/>
              </a:rPr>
              <a:t> "I can't go there."</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Ohne</a:t>
            </a:r>
            <a:r>
              <a:rPr b="1" i="0" lang="en-US" sz="1400" u="none" cap="none" strike="noStrike">
                <a:solidFill>
                  <a:schemeClr val="dk1"/>
                </a:solidFill>
                <a:latin typeface="Arial"/>
                <a:ea typeface="Arial"/>
                <a:cs typeface="Arial"/>
                <a:sym typeface="Arial"/>
              </a:rPr>
              <a:t>t Contractions:</a:t>
            </a:r>
            <a:r>
              <a:rPr b="0" i="0" lang="en-US" sz="1400" u="none" cap="none" strike="noStrike">
                <a:solidFill>
                  <a:schemeClr val="dk1"/>
                </a:solidFill>
                <a:latin typeface="Arial"/>
                <a:ea typeface="Arial"/>
                <a:cs typeface="Arial"/>
                <a:sym typeface="Arial"/>
              </a:rPr>
              <a:t> "I cannot go there."</a:t>
            </a: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2e63b4b50a3_0_77"/>
          <p:cNvSpPr txBox="1"/>
          <p:nvPr/>
        </p:nvSpPr>
        <p:spPr>
          <a:xfrm>
            <a:off x="5682050" y="1127550"/>
            <a:ext cx="30294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1200"/>
              </a:spcBef>
              <a:spcAft>
                <a:spcPts val="0"/>
              </a:spcAft>
              <a:buClr>
                <a:srgbClr val="FF0000"/>
              </a:buClr>
              <a:buSzPts val="1400"/>
              <a:buChar char="●"/>
            </a:pPr>
            <a:r>
              <a:rPr lang="en-US">
                <a:solidFill>
                  <a:srgbClr val="FF0000"/>
                </a:solidFill>
              </a:rPr>
              <a:t>Auch hier gilt: Diese Reinigungsstrategien hängen vom verwendeten Modell ab.</a:t>
            </a:r>
            <a:endParaRPr>
              <a:solidFill>
                <a:srgbClr val="FF0000"/>
              </a:solidFill>
            </a:endParaRPr>
          </a:p>
          <a:p>
            <a:pPr indent="0" lvl="0" marL="457200" rtl="0" algn="l">
              <a:lnSpc>
                <a:spcPct val="100000"/>
              </a:lnSpc>
              <a:spcBef>
                <a:spcPts val="1200"/>
              </a:spcBef>
              <a:spcAft>
                <a:spcPts val="0"/>
              </a:spcAft>
              <a:buNone/>
            </a:pPr>
            <a:r>
              <a:t/>
            </a:r>
            <a:endParaRPr>
              <a:solidFill>
                <a:srgbClr val="FF0000"/>
              </a:solidFill>
            </a:endParaRPr>
          </a:p>
          <a:p>
            <a:pPr indent="-317500" lvl="0" marL="457200" rtl="0" algn="l">
              <a:lnSpc>
                <a:spcPct val="100000"/>
              </a:lnSpc>
              <a:spcBef>
                <a:spcPts val="1200"/>
              </a:spcBef>
              <a:spcAft>
                <a:spcPts val="0"/>
              </a:spcAft>
              <a:buClr>
                <a:srgbClr val="FF0000"/>
              </a:buClr>
              <a:buSzPts val="1400"/>
              <a:buChar char="●"/>
            </a:pPr>
            <a:r>
              <a:rPr lang="en-US">
                <a:solidFill>
                  <a:srgbClr val="FF0000"/>
                </a:solidFill>
              </a:rPr>
              <a:t>Bei fortgeschritteneren Modellen wie Transformern kann es sogar vorteilhaft sein, die Daten möglichst unverändert zu lassen und auf eine intensive Reinigung zu verzichten.</a:t>
            </a:r>
            <a:endParaRPr>
              <a:solidFill>
                <a:srgbClr val="FF0000"/>
              </a:solidFill>
            </a:endParaRPr>
          </a:p>
          <a:p>
            <a:pPr indent="0" lvl="0" marL="0" marR="0" rtl="0" algn="l">
              <a:lnSpc>
                <a:spcPct val="100000"/>
              </a:lnSpc>
              <a:spcBef>
                <a:spcPts val="1200"/>
              </a:spcBef>
              <a:spcAft>
                <a:spcPts val="0"/>
              </a:spcAft>
              <a:buNone/>
            </a:pPr>
            <a:r>
              <a:t/>
            </a:r>
            <a:endParaRPr>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71" name="Shape 171"/>
        <p:cNvGrpSpPr/>
        <p:nvPr/>
      </p:nvGrpSpPr>
      <p:grpSpPr>
        <a:xfrm>
          <a:off x="0" y="0"/>
          <a:ext cx="0" cy="0"/>
          <a:chOff x="0" y="0"/>
          <a:chExt cx="0" cy="0"/>
        </a:xfrm>
      </p:grpSpPr>
      <p:sp>
        <p:nvSpPr>
          <p:cNvPr id="172" name="Google Shape;172;g2e63b4b50a3_0_144"/>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3.2 </a:t>
            </a:r>
            <a:r>
              <a:rPr lang="en-US" sz="2300"/>
              <a:t>Tokenisierung</a:t>
            </a:r>
            <a:endParaRPr b="0" i="0" sz="2300" u="none" cap="none" strike="noStrike">
              <a:solidFill>
                <a:srgbClr val="000000"/>
              </a:solidFill>
              <a:latin typeface="Arial"/>
              <a:ea typeface="Arial"/>
              <a:cs typeface="Arial"/>
              <a:sym typeface="Arial"/>
            </a:endParaRPr>
          </a:p>
        </p:txBody>
      </p:sp>
      <p:sp>
        <p:nvSpPr>
          <p:cNvPr id="173" name="Google Shape;173;g2e63b4b50a3_0_144"/>
          <p:cNvSpPr txBox="1"/>
          <p:nvPr/>
        </p:nvSpPr>
        <p:spPr>
          <a:xfrm>
            <a:off x="601650" y="1156950"/>
            <a:ext cx="7604700" cy="331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Tokenisierung </a:t>
            </a:r>
            <a:r>
              <a:rPr lang="en-US">
                <a:solidFill>
                  <a:schemeClr val="dk1"/>
                </a:solidFill>
              </a:rPr>
              <a:t>ist der Prozess, Text in einzelne Einheiten wie Wörter oder Sätze aufzuteilen.</a:t>
            </a:r>
            <a:br>
              <a:rPr lang="en-US">
                <a:solidFill>
                  <a:schemeClr val="dk1"/>
                </a:solidFill>
              </a:rPr>
            </a:br>
            <a:r>
              <a:rPr lang="en-US">
                <a:solidFill>
                  <a:schemeClr val="dk1"/>
                </a:solidFill>
              </a:rPr>
              <a:t>Dies ist einer der ersten Schritte, um einer Maschine das Verstehen von Text zu erleichtern, indem der Text in kleinere Einheiten zerlegt wird.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Arten der Tokenisierung:</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Wort-Tokenisierung: </a:t>
            </a:r>
            <a:r>
              <a:rPr lang="en-US">
                <a:solidFill>
                  <a:schemeClr val="dk1"/>
                </a:solidFill>
              </a:rPr>
              <a:t>Aufteilung des Textes in Wörter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Satz-Tokenisierung: </a:t>
            </a:r>
            <a:r>
              <a:rPr lang="en-US">
                <a:solidFill>
                  <a:schemeClr val="dk1"/>
                </a:solidFill>
              </a:rPr>
              <a:t>Aufteilung des Textes in Sätze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Subwort-Tokenisierung: </a:t>
            </a:r>
            <a:r>
              <a:rPr lang="en-US">
                <a:solidFill>
                  <a:schemeClr val="dk1"/>
                </a:solidFill>
              </a:rPr>
              <a:t>Fortgeschrittene Methode, bei der der Text in Subwort-Einheiten zerlegt wird</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Zeichen-Tokenisierung: </a:t>
            </a:r>
            <a:r>
              <a:rPr lang="en-US">
                <a:solidFill>
                  <a:schemeClr val="dk1"/>
                </a:solidFill>
              </a:rPr>
              <a:t>Aufteilung des Textes in einzelne Zeichen</a:t>
            </a:r>
            <a:endParaRPr>
              <a:solidFill>
                <a:schemeClr val="dk1"/>
              </a:solidFill>
            </a:endParaRPr>
          </a:p>
          <a:p>
            <a:pPr indent="0" lvl="0" marL="457200" marR="0" rtl="0" algn="l">
              <a:lnSpc>
                <a:spcPct val="100000"/>
              </a:lnSpc>
              <a:spcBef>
                <a:spcPts val="1200"/>
              </a:spcBef>
              <a:spcAft>
                <a:spcPts val="0"/>
              </a:spcAft>
              <a:buClr>
                <a:srgbClr val="000000"/>
              </a:buClr>
              <a:buSzPts val="1400"/>
              <a:buFont typeface="Arial"/>
              <a:buNone/>
            </a:pPr>
            <a:r>
              <a:t/>
            </a:r>
            <a:endParaRPr b="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78" name="Shape 178"/>
        <p:cNvGrpSpPr/>
        <p:nvPr/>
      </p:nvGrpSpPr>
      <p:grpSpPr>
        <a:xfrm>
          <a:off x="0" y="0"/>
          <a:ext cx="0" cy="0"/>
          <a:chOff x="0" y="0"/>
          <a:chExt cx="0" cy="0"/>
        </a:xfrm>
      </p:grpSpPr>
      <p:sp>
        <p:nvSpPr>
          <p:cNvPr id="179" name="Google Shape;179;g2e63b4b50a3_0_110"/>
          <p:cNvSpPr txBox="1"/>
          <p:nvPr/>
        </p:nvSpPr>
        <p:spPr>
          <a:xfrm>
            <a:off x="601650" y="1156950"/>
            <a:ext cx="7604700" cy="357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lang="en-US">
                <a:solidFill>
                  <a:schemeClr val="dk1"/>
                </a:solidFill>
              </a:rPr>
              <a:t>Beispiel:</a:t>
            </a:r>
            <a:endParaRPr b="1"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1400" u="none" cap="none" strike="noStrike">
                <a:solidFill>
                  <a:schemeClr val="dk1"/>
                </a:solidFill>
                <a:latin typeface="Arial"/>
                <a:ea typeface="Arial"/>
                <a:cs typeface="Arial"/>
                <a:sym typeface="Arial"/>
              </a:rPr>
              <a:t>Input:</a:t>
            </a:r>
            <a:r>
              <a:rPr b="0" i="0" lang="en-US" sz="1400" u="none" cap="none" strike="noStrike">
                <a:solidFill>
                  <a:schemeClr val="dk1"/>
                </a:solidFill>
                <a:latin typeface="Arial"/>
                <a:ea typeface="Arial"/>
                <a:cs typeface="Arial"/>
                <a:sym typeface="Arial"/>
              </a:rPr>
              <a:t> "Hello world! NLP is exciting."</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Word</a:t>
            </a:r>
            <a:r>
              <a:rPr b="1" lang="en-US">
                <a:solidFill>
                  <a:schemeClr val="dk1"/>
                </a:solidFill>
              </a:rPr>
              <a:t>-</a:t>
            </a:r>
            <a:r>
              <a:rPr b="1" i="0" lang="en-US" sz="1400" u="none" cap="none" strike="noStrike">
                <a:solidFill>
                  <a:schemeClr val="dk1"/>
                </a:solidFill>
                <a:latin typeface="Arial"/>
                <a:ea typeface="Arial"/>
                <a:cs typeface="Arial"/>
                <a:sym typeface="Arial"/>
              </a:rPr>
              <a:t>Tokens:</a:t>
            </a:r>
            <a:r>
              <a:rPr b="0" i="0" lang="en-US" sz="1400" u="none" cap="none" strike="noStrike">
                <a:solidFill>
                  <a:schemeClr val="dk1"/>
                </a:solidFill>
                <a:latin typeface="Arial"/>
                <a:ea typeface="Arial"/>
                <a:cs typeface="Arial"/>
                <a:sym typeface="Arial"/>
              </a:rPr>
              <a:t> ["Hello", "world", "!", "NLP", "is", "exciting", "."]</a:t>
            </a: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Satz-</a:t>
            </a:r>
            <a:r>
              <a:rPr b="1" i="0" lang="en-US" sz="1400" u="none" cap="none" strike="noStrike">
                <a:solidFill>
                  <a:schemeClr val="dk1"/>
                </a:solidFill>
                <a:latin typeface="Arial"/>
                <a:ea typeface="Arial"/>
                <a:cs typeface="Arial"/>
                <a:sym typeface="Arial"/>
              </a:rPr>
              <a:t>Tokens:</a:t>
            </a:r>
            <a:r>
              <a:rPr b="0" i="0" lang="en-US" sz="1400" u="none" cap="none" strike="noStrike">
                <a:solidFill>
                  <a:schemeClr val="dk1"/>
                </a:solidFill>
                <a:latin typeface="Arial"/>
                <a:ea typeface="Arial"/>
                <a:cs typeface="Arial"/>
                <a:sym typeface="Arial"/>
              </a:rPr>
              <a:t> ["Hello world!", "NLP is exciting."]</a:t>
            </a: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lang="en-US">
                <a:solidFill>
                  <a:schemeClr val="dk1"/>
                </a:solidFill>
              </a:rPr>
              <a:t>Zeichen-</a:t>
            </a:r>
            <a:r>
              <a:rPr b="1" i="0" lang="en-US" sz="1400" u="none" cap="none" strike="noStrike">
                <a:solidFill>
                  <a:schemeClr val="dk1"/>
                </a:solidFill>
                <a:latin typeface="Arial"/>
                <a:ea typeface="Arial"/>
                <a:cs typeface="Arial"/>
                <a:sym typeface="Arial"/>
              </a:rPr>
              <a:t>Tokens:</a:t>
            </a:r>
            <a:r>
              <a:rPr b="0" i="0" lang="en-US" sz="1400" u="none" cap="none" strike="noStrike">
                <a:solidFill>
                  <a:schemeClr val="dk1"/>
                </a:solidFill>
                <a:latin typeface="Arial"/>
                <a:ea typeface="Arial"/>
                <a:cs typeface="Arial"/>
                <a:sym typeface="Arial"/>
              </a:rPr>
              <a:t> ["H", "e", "l", "l", "o", " ", "w", "o", "r", "l", "d", "!", " ", "N", "L", "P", " ", "i", "s", " ", "e", "x", "c", "i", "t", "i", "n", "g", "."]</a:t>
            </a:r>
            <a:br>
              <a:rPr b="0" i="0" lang="en-US" sz="1400" u="none" cap="none" strike="noStrike">
                <a:solidFill>
                  <a:schemeClr val="dk1"/>
                </a:solidFill>
                <a:latin typeface="Arial"/>
                <a:ea typeface="Arial"/>
                <a:cs typeface="Arial"/>
                <a:sym typeface="Arial"/>
              </a:rPr>
            </a:b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84" name="Shape 184"/>
        <p:cNvGrpSpPr/>
        <p:nvPr/>
      </p:nvGrpSpPr>
      <p:grpSpPr>
        <a:xfrm>
          <a:off x="0" y="0"/>
          <a:ext cx="0" cy="0"/>
          <a:chOff x="0" y="0"/>
          <a:chExt cx="0" cy="0"/>
        </a:xfrm>
      </p:grpSpPr>
      <p:sp>
        <p:nvSpPr>
          <p:cNvPr id="185" name="Google Shape;185;g2e63b4b50a3_0_117"/>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3.3 Stop-Wort-Entfernung</a:t>
            </a:r>
            <a:endParaRPr b="0" i="0" sz="2300" u="none" cap="none" strike="noStrike">
              <a:solidFill>
                <a:srgbClr val="000000"/>
              </a:solidFill>
              <a:latin typeface="Arial"/>
              <a:ea typeface="Arial"/>
              <a:cs typeface="Arial"/>
              <a:sym typeface="Arial"/>
            </a:endParaRPr>
          </a:p>
        </p:txBody>
      </p:sp>
      <p:sp>
        <p:nvSpPr>
          <p:cNvPr id="186" name="Google Shape;186;g2e63b4b50a3_0_117"/>
          <p:cNvSpPr txBox="1"/>
          <p:nvPr/>
        </p:nvSpPr>
        <p:spPr>
          <a:xfrm>
            <a:off x="601650" y="1156950"/>
            <a:ext cx="76047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Stoppwörter</a:t>
            </a:r>
            <a:r>
              <a:rPr lang="en-US">
                <a:solidFill>
                  <a:schemeClr val="dk1"/>
                </a:solidFill>
              </a:rPr>
              <a:t> sind häufige Wörter, die meist wenig bedeutungsvolle Information tragen (z. B. „und“, „der“, „ist“).</a:t>
            </a:r>
            <a:br>
              <a:rPr lang="en-US">
                <a:solidFill>
                  <a:schemeClr val="dk1"/>
                </a:solidFill>
              </a:rPr>
            </a:br>
            <a:r>
              <a:rPr lang="en-US">
                <a:solidFill>
                  <a:schemeClr val="dk1"/>
                </a:solidFill>
              </a:rPr>
              <a:t> Das Ziel der Entfernung von Stoppwörtern ist es, die Dimensionalität der Daten zu reduzieren und den Fokus stärker auf aussagekräftige Wörter zu legen.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Beispiel:</a:t>
            </a:r>
            <a:br>
              <a:rPr b="1" lang="en-US">
                <a:solidFill>
                  <a:schemeClr val="dk1"/>
                </a:solidFill>
              </a:rPr>
            </a:br>
            <a:r>
              <a:rPr b="1" lang="en-US">
                <a:solidFill>
                  <a:schemeClr val="dk1"/>
                </a:solidFill>
              </a:rPr>
              <a:t> Eingabe: </a:t>
            </a:r>
            <a:r>
              <a:rPr lang="en-US">
                <a:solidFill>
                  <a:schemeClr val="dk1"/>
                </a:solidFill>
              </a:rPr>
              <a:t>„This is an example of stop words removal.“</a:t>
            </a:r>
            <a:br>
              <a:rPr b="1" lang="en-US">
                <a:solidFill>
                  <a:schemeClr val="dk1"/>
                </a:solidFill>
              </a:rPr>
            </a:br>
            <a:r>
              <a:rPr b="1" lang="en-US">
                <a:solidFill>
                  <a:schemeClr val="dk1"/>
                </a:solidFill>
              </a:rPr>
              <a:t> Ausgabe:</a:t>
            </a:r>
            <a:r>
              <a:rPr lang="en-US">
                <a:solidFill>
                  <a:schemeClr val="dk1"/>
                </a:solidFill>
              </a:rPr>
              <a:t> [„example“, „stop“, „words“, „removal“]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Wichtig ist, dass die Entfernung von Stoppwörtern gut bei einfachen und niedrigstufigen Modellen funktioniert. Bei komplexeren Modellen hingegen möchte man sie häufig behalten.</a:t>
            </a:r>
            <a:endParaRPr>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1">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91" name="Shape 191"/>
        <p:cNvGrpSpPr/>
        <p:nvPr/>
      </p:nvGrpSpPr>
      <p:grpSpPr>
        <a:xfrm>
          <a:off x="0" y="0"/>
          <a:ext cx="0" cy="0"/>
          <a:chOff x="0" y="0"/>
          <a:chExt cx="0" cy="0"/>
        </a:xfrm>
      </p:grpSpPr>
      <p:sp>
        <p:nvSpPr>
          <p:cNvPr id="192" name="Google Shape;192;g2e63b4b50a3_0_154"/>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3.4.</a:t>
            </a:r>
            <a:r>
              <a:rPr lang="en-US" sz="2300"/>
              <a:t> </a:t>
            </a:r>
            <a:r>
              <a:rPr b="0" i="0" lang="en-US" sz="2300" u="none" cap="none" strike="noStrike">
                <a:solidFill>
                  <a:srgbClr val="000000"/>
                </a:solidFill>
                <a:latin typeface="Arial"/>
                <a:ea typeface="Arial"/>
                <a:cs typeface="Arial"/>
                <a:sym typeface="Arial"/>
              </a:rPr>
              <a:t>Stemming</a:t>
            </a:r>
            <a:endParaRPr b="0" i="0" sz="2300" u="none" cap="none" strike="noStrike">
              <a:solidFill>
                <a:srgbClr val="000000"/>
              </a:solidFill>
              <a:latin typeface="Arial"/>
              <a:ea typeface="Arial"/>
              <a:cs typeface="Arial"/>
              <a:sym typeface="Arial"/>
            </a:endParaRPr>
          </a:p>
        </p:txBody>
      </p:sp>
      <p:sp>
        <p:nvSpPr>
          <p:cNvPr id="193" name="Google Shape;193;g2e63b4b50a3_0_154"/>
          <p:cNvSpPr txBox="1"/>
          <p:nvPr/>
        </p:nvSpPr>
        <p:spPr>
          <a:xfrm>
            <a:off x="601650" y="1156950"/>
            <a:ext cx="7604700" cy="27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Stemming </a:t>
            </a:r>
            <a:r>
              <a:rPr lang="en-US">
                <a:solidFill>
                  <a:schemeClr val="dk1"/>
                </a:solidFill>
              </a:rPr>
              <a:t>reduziert Wörter auf ihre Stammform, indem Endungen entfernt werden.</a:t>
            </a:r>
            <a:br>
              <a:rPr lang="en-US">
                <a:solidFill>
                  <a:schemeClr val="dk1"/>
                </a:solidFill>
              </a:rPr>
            </a:br>
            <a:r>
              <a:rPr lang="en-US">
                <a:solidFill>
                  <a:schemeClr val="dk1"/>
                </a:solidFill>
              </a:rPr>
              <a:t> Es gibt verschiedene Algorithmen zum Stemming:</a:t>
            </a:r>
            <a:br>
              <a:rPr lang="en-US">
                <a:solidFill>
                  <a:schemeClr val="dk1"/>
                </a:solidFill>
              </a:rPr>
            </a:br>
            <a:r>
              <a:rPr lang="en-US">
                <a:solidFill>
                  <a:schemeClr val="dk1"/>
                </a:solidFill>
              </a:rPr>
              <a:t> Porter Stemmer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a:t>
            </a:r>
            <a:r>
              <a:rPr b="1" lang="en-US">
                <a:solidFill>
                  <a:schemeClr val="dk1"/>
                </a:solidFill>
                <a:highlight>
                  <a:schemeClr val="lt2"/>
                </a:highlight>
              </a:rPr>
              <a:t>now</a:t>
            </a:r>
            <a:r>
              <a:rPr b="1" lang="en-US">
                <a:solidFill>
                  <a:schemeClr val="dk1"/>
                </a:solidFill>
              </a:rPr>
              <a:t>ball Stemmer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Beispiel:</a:t>
            </a:r>
            <a:br>
              <a:rPr b="1" lang="en-US">
                <a:solidFill>
                  <a:schemeClr val="dk1"/>
                </a:solidFill>
              </a:rPr>
            </a:br>
            <a:r>
              <a:rPr b="1" lang="en-US">
                <a:solidFill>
                  <a:schemeClr val="dk1"/>
                </a:solidFill>
              </a:rPr>
              <a:t>	Eingabe: </a:t>
            </a:r>
            <a:r>
              <a:rPr lang="en-US">
                <a:solidFill>
                  <a:schemeClr val="dk1"/>
                </a:solidFill>
              </a:rPr>
              <a:t>„running“, „runner“, „ran“</a:t>
            </a:r>
            <a:endParaRPr>
              <a:solidFill>
                <a:schemeClr val="dk1"/>
              </a:solidFill>
            </a:endParaRPr>
          </a:p>
          <a:p>
            <a:pPr indent="0" lvl="0" marL="457200" rtl="0" algn="l">
              <a:lnSpc>
                <a:spcPct val="115000"/>
              </a:lnSpc>
              <a:spcBef>
                <a:spcPts val="1200"/>
              </a:spcBef>
              <a:spcAft>
                <a:spcPts val="1200"/>
              </a:spcAft>
              <a:buClr>
                <a:schemeClr val="dk1"/>
              </a:buClr>
              <a:buSzPts val="1100"/>
              <a:buFont typeface="Arial"/>
              <a:buNone/>
            </a:pPr>
            <a:r>
              <a:rPr b="1" lang="en-US">
                <a:solidFill>
                  <a:schemeClr val="dk1"/>
                </a:solidFill>
              </a:rPr>
              <a:t>Ausgabe: </a:t>
            </a:r>
            <a:r>
              <a:rPr lang="en-US">
                <a:solidFill>
                  <a:schemeClr val="dk1"/>
                </a:solidFill>
              </a:rPr>
              <a:t>„run“</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198" name="Shape 198"/>
        <p:cNvGrpSpPr/>
        <p:nvPr/>
      </p:nvGrpSpPr>
      <p:grpSpPr>
        <a:xfrm>
          <a:off x="0" y="0"/>
          <a:ext cx="0" cy="0"/>
          <a:chOff x="0" y="0"/>
          <a:chExt cx="0" cy="0"/>
        </a:xfrm>
      </p:grpSpPr>
      <p:sp>
        <p:nvSpPr>
          <p:cNvPr id="199" name="Google Shape;199;g2e63b4b50a3_0_170"/>
          <p:cNvSpPr txBox="1"/>
          <p:nvPr/>
        </p:nvSpPr>
        <p:spPr>
          <a:xfrm>
            <a:off x="601650" y="844650"/>
            <a:ext cx="76047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Die Grundidee hinter </a:t>
            </a:r>
            <a:r>
              <a:rPr b="1" lang="en-US">
                <a:solidFill>
                  <a:schemeClr val="dk1"/>
                </a:solidFill>
              </a:rPr>
              <a:t>Stemming</a:t>
            </a:r>
            <a:r>
              <a:rPr lang="en-US">
                <a:solidFill>
                  <a:schemeClr val="dk1"/>
                </a:solidFill>
              </a:rPr>
              <a:t> ist, verschiedene Wortformen zusammenzufassen, damit sie als ein einziges Element analysiert werden können. Das ist besonders nützlich bei Aufgaben wie Suchmaschinen, Text Mining und Informationsabruf.</a:t>
            </a:r>
            <a:br>
              <a:rPr lang="en-US">
                <a:solidFill>
                  <a:schemeClr val="dk1"/>
                </a:solidFill>
              </a:rPr>
            </a:br>
            <a:r>
              <a:rPr lang="en-US">
                <a:solidFill>
                  <a:schemeClr val="dk1"/>
                </a:solidFill>
              </a:rPr>
              <a:t> Wenn unsere Modelle nicht fein genug sind, um die sprachlichen Nuancen zu erfassen, wozu dann verschiedene Varianten desselben Konzepts wie „running“ unterscheiden? Stattdessen können wir sie alle zusammenfassen und uns nur auf den Wortstamm konzentrieren.</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Ein weiteres Beispiel:</a:t>
            </a:r>
            <a:br>
              <a:rPr b="1" lang="en-US">
                <a:solidFill>
                  <a:schemeClr val="dk1"/>
                </a:solidFill>
              </a:rPr>
            </a:br>
            <a:r>
              <a:rPr lang="en-US">
                <a:solidFill>
                  <a:schemeClr val="dk1"/>
                </a:solidFill>
              </a:rPr>
              <a:t>Ursprüngliche Wörter: „analyze“, „analyzing“, „analyzed“, „analyzes“, „analysis</a:t>
            </a:r>
            <a:r>
              <a:rPr b="1" lang="en-US">
                <a:solidFill>
                  <a:schemeClr val="dk1"/>
                </a:solidFill>
              </a:rPr>
              <a: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Gestemmte Form:</a:t>
            </a:r>
            <a:r>
              <a:rPr lang="en-US">
                <a:solidFill>
                  <a:schemeClr val="dk1"/>
                </a:solidFill>
              </a:rPr>
              <a:t> „analyz“</a:t>
            </a:r>
            <a:endParaRPr>
              <a:solidFill>
                <a:schemeClr val="dk1"/>
              </a:solidFill>
            </a:endParaRPr>
          </a:p>
          <a:p>
            <a:pPr indent="0" lvl="0" marL="457200" marR="0" rtl="0" algn="l">
              <a:lnSpc>
                <a:spcPct val="115000"/>
              </a:lnSpc>
              <a:spcBef>
                <a:spcPts val="1200"/>
              </a:spcBef>
              <a:spcAft>
                <a:spcPts val="0"/>
              </a:spcAft>
              <a:buNone/>
            </a:pPr>
            <a:r>
              <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04" name="Shape 204"/>
        <p:cNvGrpSpPr/>
        <p:nvPr/>
      </p:nvGrpSpPr>
      <p:grpSpPr>
        <a:xfrm>
          <a:off x="0" y="0"/>
          <a:ext cx="0" cy="0"/>
          <a:chOff x="0" y="0"/>
          <a:chExt cx="0" cy="0"/>
        </a:xfrm>
      </p:grpSpPr>
      <p:sp>
        <p:nvSpPr>
          <p:cNvPr id="205" name="Google Shape;205;g2e63b4b50a3_0_161"/>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3.4.B </a:t>
            </a:r>
            <a:r>
              <a:rPr lang="en-US" sz="2300"/>
              <a:t>Lemmatisierung</a:t>
            </a:r>
            <a:endParaRPr b="0" i="0" sz="2300" u="none" cap="none" strike="noStrike">
              <a:solidFill>
                <a:srgbClr val="000000"/>
              </a:solidFill>
              <a:latin typeface="Arial"/>
              <a:ea typeface="Arial"/>
              <a:cs typeface="Arial"/>
              <a:sym typeface="Arial"/>
            </a:endParaRPr>
          </a:p>
        </p:txBody>
      </p:sp>
      <p:sp>
        <p:nvSpPr>
          <p:cNvPr id="206" name="Google Shape;206;g2e63b4b50a3_0_161"/>
          <p:cNvSpPr txBox="1"/>
          <p:nvPr/>
        </p:nvSpPr>
        <p:spPr>
          <a:xfrm>
            <a:off x="601650" y="1034950"/>
            <a:ext cx="76047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Lemmatisierung </a:t>
            </a:r>
            <a:r>
              <a:rPr lang="en-US">
                <a:solidFill>
                  <a:schemeClr val="dk1"/>
                </a:solidFill>
              </a:rPr>
              <a:t>reduziert Wörter auf ihre Grund- oder Wörterbuchform und berücksichtigt dabei den Kontext.</a:t>
            </a:r>
            <a:br>
              <a:rPr lang="en-US">
                <a:solidFill>
                  <a:schemeClr val="dk1"/>
                </a:solidFill>
              </a:rPr>
            </a:br>
            <a:r>
              <a:rPr lang="en-US">
                <a:solidFill>
                  <a:schemeClr val="dk1"/>
                </a:solidFill>
              </a:rPr>
              <a:t>Vergleich mit Stemming:</a:t>
            </a:r>
            <a:br>
              <a:rPr lang="en-US">
                <a:solidFill>
                  <a:schemeClr val="dk1"/>
                </a:solidFill>
              </a:rPr>
            </a:br>
            <a:r>
              <a:rPr lang="en-US">
                <a:solidFill>
                  <a:schemeClr val="dk1"/>
                </a:solidFill>
              </a:rPr>
              <a:t>Lemmatisierung ist genauer als </a:t>
            </a:r>
            <a:r>
              <a:rPr b="1" lang="en-US">
                <a:solidFill>
                  <a:schemeClr val="dk1"/>
                </a:solidFill>
              </a:rPr>
              <a:t>Stemming,</a:t>
            </a:r>
            <a:r>
              <a:rPr lang="en-US">
                <a:solidFill>
                  <a:schemeClr val="dk1"/>
                </a:solidFill>
              </a:rPr>
              <a:t> benötigt aber mehr Rechenleistung.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Beispiel:</a:t>
            </a:r>
            <a:br>
              <a:rPr b="1" lang="en-US">
                <a:solidFill>
                  <a:schemeClr val="dk1"/>
                </a:solidFill>
              </a:rPr>
            </a:br>
            <a:r>
              <a:rPr b="1" lang="en-US">
                <a:solidFill>
                  <a:schemeClr val="dk1"/>
                </a:solidFill>
              </a:rPr>
              <a:t>	Eingabe: </a:t>
            </a:r>
            <a:r>
              <a:rPr lang="en-US">
                <a:solidFill>
                  <a:schemeClr val="dk1"/>
                </a:solidFill>
              </a:rPr>
              <a:t>„better“, „running“</a:t>
            </a:r>
            <a:endParaRPr>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b="1" lang="en-US">
                <a:solidFill>
                  <a:schemeClr val="dk1"/>
                </a:solidFill>
              </a:rPr>
              <a:t>Ausgabe: </a:t>
            </a:r>
            <a:r>
              <a:rPr lang="en-US">
                <a:solidFill>
                  <a:schemeClr val="dk1"/>
                </a:solidFill>
              </a:rPr>
              <a:t>„good“, „run“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Im obigen Beispiel ist „good“ die lemmatisierte Form von „better“, weil hier das zugrundeliegende Konzept erfasst wird. Stemming erreicht diese Genauigkeit nicht.</a:t>
            </a:r>
            <a:endParaRPr>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1">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11" name="Shape 211"/>
        <p:cNvGrpSpPr/>
        <p:nvPr/>
      </p:nvGrpSpPr>
      <p:grpSpPr>
        <a:xfrm>
          <a:off x="0" y="0"/>
          <a:ext cx="0" cy="0"/>
          <a:chOff x="0" y="0"/>
          <a:chExt cx="0" cy="0"/>
        </a:xfrm>
      </p:grpSpPr>
      <p:sp>
        <p:nvSpPr>
          <p:cNvPr id="212" name="Google Shape;212;g2e63b4b50a3_0_179"/>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3.4.C Stemming vs </a:t>
            </a:r>
            <a:r>
              <a:rPr lang="en-US" sz="2300"/>
              <a:t>Lemmatisierung</a:t>
            </a:r>
            <a:endParaRPr b="0" i="0" sz="2300" u="none" cap="none" strike="noStrike">
              <a:solidFill>
                <a:srgbClr val="000000"/>
              </a:solidFill>
              <a:latin typeface="Arial"/>
              <a:ea typeface="Arial"/>
              <a:cs typeface="Arial"/>
              <a:sym typeface="Arial"/>
            </a:endParaRPr>
          </a:p>
        </p:txBody>
      </p:sp>
      <p:sp>
        <p:nvSpPr>
          <p:cNvPr id="213" name="Google Shape;213;g2e63b4b50a3_0_179"/>
          <p:cNvSpPr txBox="1"/>
          <p:nvPr/>
        </p:nvSpPr>
        <p:spPr>
          <a:xfrm>
            <a:off x="601650" y="1156950"/>
            <a:ext cx="76047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Stemming</a:t>
            </a:r>
            <a:br>
              <a:rPr b="1" lang="en-US" sz="1100">
                <a:solidFill>
                  <a:schemeClr val="dk1"/>
                </a:solidFill>
              </a:rPr>
            </a:br>
            <a:r>
              <a:rPr lang="en-US" sz="1100">
                <a:solidFill>
                  <a:schemeClr val="dk1"/>
                </a:solidFill>
              </a:rPr>
              <a:t> </a:t>
            </a:r>
            <a:r>
              <a:rPr b="1" lang="en-US" sz="1100">
                <a:solidFill>
                  <a:schemeClr val="dk1"/>
                </a:solidFill>
              </a:rPr>
              <a:t>Vorteile: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Schnell, einfach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Nachteile: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Kann nicht-wörterbuchmäßige Formen erzeugen, z. B. „analyz“</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Lemmatisierung</a:t>
            </a:r>
            <a:br>
              <a:rPr b="1" lang="en-US" sz="1100">
                <a:solidFill>
                  <a:schemeClr val="dk1"/>
                </a:solidFill>
              </a:rPr>
            </a:br>
            <a:r>
              <a:rPr lang="en-US" sz="1100">
                <a:solidFill>
                  <a:schemeClr val="dk1"/>
                </a:solidFill>
              </a:rPr>
              <a:t> </a:t>
            </a:r>
            <a:r>
              <a:rPr b="1" lang="en-US" sz="1100">
                <a:solidFill>
                  <a:schemeClr val="dk1"/>
                </a:solidFill>
              </a:rPr>
              <a:t>Vorteile: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Liefert sinnvolle Grundformen</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Nachteile: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Langsamer, benötigt Kontext</a:t>
            </a:r>
            <a:br>
              <a:rPr lang="en-US" sz="1100">
                <a:solidFill>
                  <a:schemeClr val="dk1"/>
                </a:solidFill>
              </a:rPr>
            </a:br>
            <a:endParaRPr sz="11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n-US" sz="1100">
                <a:solidFill>
                  <a:schemeClr val="dk1"/>
                </a:solidFill>
              </a:rPr>
              <a:t>Wenn möglich, solltest du Lemmatisierung bevorzugen!</a:t>
            </a:r>
            <a:endParaRPr sz="1100">
              <a:solidFill>
                <a:schemeClr val="dk1"/>
              </a:solidFill>
            </a:endParaRPr>
          </a:p>
          <a:p>
            <a:pPr indent="0" lvl="0" marL="0" marR="0" rtl="0" algn="r">
              <a:lnSpc>
                <a:spcPct val="100000"/>
              </a:lnSpc>
              <a:spcBef>
                <a:spcPts val="1200"/>
              </a:spcBef>
              <a:spcAft>
                <a:spcPts val="0"/>
              </a:spcAft>
              <a:buClr>
                <a:srgbClr val="000000"/>
              </a:buClr>
              <a:buSzPts val="1400"/>
              <a:buFont typeface="Arial"/>
              <a:buNone/>
            </a:pPr>
            <a:r>
              <a:t/>
            </a:r>
            <a:endParaRPr b="1" sz="11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18" name="Shape 218"/>
        <p:cNvGrpSpPr/>
        <p:nvPr/>
      </p:nvGrpSpPr>
      <p:grpSpPr>
        <a:xfrm>
          <a:off x="0" y="0"/>
          <a:ext cx="0" cy="0"/>
          <a:chOff x="0" y="0"/>
          <a:chExt cx="0" cy="0"/>
        </a:xfrm>
      </p:grpSpPr>
      <p:sp>
        <p:nvSpPr>
          <p:cNvPr id="219" name="Google Shape;219;g2e63b4b50a3_0_187"/>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Andere Vorverarbeitungsschritte</a:t>
            </a:r>
            <a:endParaRPr b="0" i="0" sz="2300" u="none" cap="none" strike="noStrike">
              <a:solidFill>
                <a:srgbClr val="000000"/>
              </a:solidFill>
              <a:latin typeface="Arial"/>
              <a:ea typeface="Arial"/>
              <a:cs typeface="Arial"/>
              <a:sym typeface="Arial"/>
            </a:endParaRPr>
          </a:p>
        </p:txBody>
      </p:sp>
      <p:sp>
        <p:nvSpPr>
          <p:cNvPr id="220" name="Google Shape;220;g2e63b4b50a3_0_187"/>
          <p:cNvSpPr txBox="1"/>
          <p:nvPr/>
        </p:nvSpPr>
        <p:spPr>
          <a:xfrm>
            <a:off x="601650" y="1156950"/>
            <a:ext cx="7604700" cy="3454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Char char="●"/>
            </a:pPr>
            <a:r>
              <a:rPr lang="en-US"/>
              <a:t>Je nach NLP-Aufgabe und verwendetem Modell können weitere Schritte im Prozess hinzukommen.</a:t>
            </a:r>
            <a:endParaRPr/>
          </a:p>
          <a:p>
            <a:pPr indent="-317500" lvl="0" marL="457200" rtl="0" algn="l">
              <a:lnSpc>
                <a:spcPct val="115000"/>
              </a:lnSpc>
              <a:spcBef>
                <a:spcPts val="0"/>
              </a:spcBef>
              <a:spcAft>
                <a:spcPts val="0"/>
              </a:spcAft>
              <a:buSzPts val="1400"/>
              <a:buChar char="●"/>
            </a:pPr>
            <a:r>
              <a:rPr lang="en-US"/>
              <a:t>Diese Liste ist nicht verpflichtend, sondern soll dir nur einen Eindruck davon vermitteln, was möglich ist.</a:t>
            </a:r>
            <a:endParaRPr/>
          </a:p>
          <a:p>
            <a:pPr indent="-317500" lvl="0" marL="457200" rtl="0" algn="l">
              <a:lnSpc>
                <a:spcPct val="115000"/>
              </a:lnSpc>
              <a:spcBef>
                <a:spcPts val="0"/>
              </a:spcBef>
              <a:spcAft>
                <a:spcPts val="0"/>
              </a:spcAft>
              <a:buSzPts val="1400"/>
              <a:buChar char="●"/>
            </a:pPr>
            <a:r>
              <a:rPr lang="en-US"/>
              <a:t>Im praktischen Teil werden wir diese Techniken dann direkt anwenden.</a:t>
            </a:r>
            <a:endParaRPr/>
          </a:p>
          <a:p>
            <a:pPr indent="0" lvl="0" marL="457200" marR="0" rtl="0" algn="l">
              <a:lnSpc>
                <a:spcPct val="100000"/>
              </a:lnSpc>
              <a:spcBef>
                <a:spcPts val="1200"/>
              </a:spcBef>
              <a:spcAft>
                <a:spcPts val="0"/>
              </a:spcAft>
              <a:buClr>
                <a:srgbClr val="000000"/>
              </a:buClr>
              <a:buSzPts val="1400"/>
              <a:buFont typeface="Arial"/>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75F6E"/>
        </a:solidFill>
      </p:bgPr>
    </p:bg>
    <p:spTree>
      <p:nvGrpSpPr>
        <p:cNvPr id="225" name="Shape 225"/>
        <p:cNvGrpSpPr/>
        <p:nvPr/>
      </p:nvGrpSpPr>
      <p:grpSpPr>
        <a:xfrm>
          <a:off x="0" y="0"/>
          <a:ext cx="0" cy="0"/>
          <a:chOff x="0" y="0"/>
          <a:chExt cx="0" cy="0"/>
        </a:xfrm>
      </p:grpSpPr>
      <p:sp>
        <p:nvSpPr>
          <p:cNvPr id="226" name="Google Shape;226;g2e63b4b50a3_0_194"/>
          <p:cNvSpPr/>
          <p:nvPr/>
        </p:nvSpPr>
        <p:spPr>
          <a:xfrm>
            <a:off x="1685025" y="2195400"/>
            <a:ext cx="5248200" cy="7527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chemeClr val="dk1"/>
              </a:buClr>
              <a:buSzPts val="1100"/>
              <a:buFont typeface="Arial"/>
              <a:buNone/>
            </a:pPr>
            <a:r>
              <a:rPr lang="en-US" sz="3400">
                <a:solidFill>
                  <a:srgbClr val="FFFFFF"/>
                </a:solidFill>
              </a:rPr>
              <a:t>Merkmalextraktion</a:t>
            </a:r>
            <a:endParaRPr b="0" i="0" sz="3400" u="none" cap="none" strike="noStrike">
              <a:solidFill>
                <a:srgbClr val="FFFFFF"/>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31" name="Shape 231"/>
        <p:cNvGrpSpPr/>
        <p:nvPr/>
      </p:nvGrpSpPr>
      <p:grpSpPr>
        <a:xfrm>
          <a:off x="0" y="0"/>
          <a:ext cx="0" cy="0"/>
          <a:chOff x="0" y="0"/>
          <a:chExt cx="0" cy="0"/>
        </a:xfrm>
      </p:grpSpPr>
      <p:sp>
        <p:nvSpPr>
          <p:cNvPr id="232" name="Google Shape;232;g2e63b4b50a3_0_20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4. </a:t>
            </a:r>
            <a:r>
              <a:rPr lang="en-US" sz="2300"/>
              <a:t>Merkmalextraktion</a:t>
            </a:r>
            <a:endParaRPr b="0" i="0" sz="2300" u="none" cap="none" strike="noStrike">
              <a:solidFill>
                <a:srgbClr val="000000"/>
              </a:solidFill>
              <a:latin typeface="Arial"/>
              <a:ea typeface="Arial"/>
              <a:cs typeface="Arial"/>
              <a:sym typeface="Arial"/>
            </a:endParaRPr>
          </a:p>
        </p:txBody>
      </p:sp>
      <p:sp>
        <p:nvSpPr>
          <p:cNvPr id="233" name="Google Shape;233;g2e63b4b50a3_0_206"/>
          <p:cNvSpPr txBox="1"/>
          <p:nvPr/>
        </p:nvSpPr>
        <p:spPr>
          <a:xfrm>
            <a:off x="601650" y="1156950"/>
            <a:ext cx="76047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Feature-Extraktion:</a:t>
            </a:r>
            <a:br>
              <a:rPr b="1" lang="en-US">
                <a:solidFill>
                  <a:schemeClr val="dk1"/>
                </a:solidFill>
              </a:rPr>
            </a:br>
            <a:r>
              <a:rPr lang="en-US">
                <a:solidFill>
                  <a:schemeClr val="dk1"/>
                </a:solidFill>
              </a:rPr>
              <a:t> Bezeichnet den Prozess, rohe Textdaten in numerische Merkmale umzuwandeln, die als Eingabe für Machine-Learning-Algorithmen verwendet werden können. Diese Transformation ermöglicht es Modellen, Text zu verstehen und zu analysieren, sodass sie Aufgaben wie Klassifikation, Clustering oder Regression durchführen können.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Vektorisierung:</a:t>
            </a:r>
            <a:br>
              <a:rPr lang="en-US">
                <a:solidFill>
                  <a:schemeClr val="dk1"/>
                </a:solidFill>
              </a:rPr>
            </a:br>
            <a:r>
              <a:rPr lang="en-US">
                <a:solidFill>
                  <a:schemeClr val="dk1"/>
                </a:solidFill>
              </a:rPr>
              <a:t> Eine spezielle Form der Feature-Extraktion, bei der Wörter, Phrasen oder ganze Dokumente in numerische Vektoren umgewandelt werden. Diese Vektoren sind oft mehrdimensionale Repräsentationen, die die wichtigen Eigenschaften der Textdaten erfassen.</a:t>
            </a:r>
            <a:endParaRPr>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38" name="Shape 238"/>
        <p:cNvGrpSpPr/>
        <p:nvPr/>
      </p:nvGrpSpPr>
      <p:grpSpPr>
        <a:xfrm>
          <a:off x="0" y="0"/>
          <a:ext cx="0" cy="0"/>
          <a:chOff x="0" y="0"/>
          <a:chExt cx="0" cy="0"/>
        </a:xfrm>
      </p:grpSpPr>
      <p:sp>
        <p:nvSpPr>
          <p:cNvPr id="239" name="Google Shape;239;g32c3cf94e98_6_24"/>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Vectorization</a:t>
            </a:r>
            <a:endParaRPr b="0" i="0" sz="2300" u="none" cap="none" strike="noStrike">
              <a:solidFill>
                <a:srgbClr val="000000"/>
              </a:solidFill>
              <a:latin typeface="Arial"/>
              <a:ea typeface="Arial"/>
              <a:cs typeface="Arial"/>
              <a:sym typeface="Arial"/>
            </a:endParaRPr>
          </a:p>
        </p:txBody>
      </p:sp>
      <p:sp>
        <p:nvSpPr>
          <p:cNvPr id="240" name="Google Shape;240;g32c3cf94e98_6_24"/>
          <p:cNvSpPr txBox="1"/>
          <p:nvPr/>
        </p:nvSpPr>
        <p:spPr>
          <a:xfrm>
            <a:off x="601650" y="1156950"/>
            <a:ext cx="7604700" cy="3454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Char char="●"/>
            </a:pPr>
            <a:r>
              <a:rPr lang="en-US" sz="1100">
                <a:solidFill>
                  <a:schemeClr val="dk1"/>
                </a:solidFill>
              </a:rPr>
              <a:t>Stell dir vor, wir haben folgenden Text:</a:t>
            </a:r>
            <a:br>
              <a:rPr lang="en-US" sz="1100">
                <a:solidFill>
                  <a:schemeClr val="dk1"/>
                </a:solidFill>
              </a:rPr>
            </a:br>
            <a:r>
              <a:rPr lang="en-US" sz="1100">
                <a:solidFill>
                  <a:schemeClr val="dk1"/>
                </a:solidFill>
              </a:rPr>
              <a:t> „The quick brown fox jumped over the lazy dogs. It was a sunny day in the forest.“</a:t>
            </a:r>
            <a:endParaRPr sz="1100">
              <a:solidFill>
                <a:schemeClr val="dk1"/>
              </a:solidFill>
            </a:endParaRPr>
          </a:p>
          <a:p>
            <a:pPr indent="-317500" lvl="0" marL="457200" rtl="0" algn="l">
              <a:lnSpc>
                <a:spcPct val="115000"/>
              </a:lnSpc>
              <a:spcBef>
                <a:spcPts val="0"/>
              </a:spcBef>
              <a:spcAft>
                <a:spcPts val="0"/>
              </a:spcAft>
              <a:buSzPts val="1400"/>
              <a:buChar char="●"/>
            </a:pPr>
            <a:r>
              <a:rPr lang="en-US" sz="1100">
                <a:solidFill>
                  <a:schemeClr val="dk1"/>
                </a:solidFill>
              </a:rPr>
              <a:t>Nach der Vorverarbeitung entsprechend dem, was wir gelernt haben, sieht unser Beispiel dann so aus – eine Liste von Tokens (hier entspricht ein Token einem Wort):</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188038"/>
                </a:solidFill>
                <a:latin typeface="Roboto Mono"/>
                <a:ea typeface="Roboto Mono"/>
                <a:cs typeface="Roboto Mono"/>
                <a:sym typeface="Roboto Mono"/>
              </a:rPr>
              <a:t>sample = ["quick", "brown", "fox", "jump", "over", "lazy", "dog", "sunny", "day", "forest"]</a:t>
            </a:r>
            <a:endParaRPr b="0" i="0" sz="1100" u="none" cap="none" strike="noStrike">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Können wir das so direkt in ein beliebiges ML-Modell einspeisen?</a:t>
            </a:r>
            <a:br>
              <a:rPr lang="en-US" sz="1100">
                <a:solidFill>
                  <a:schemeClr val="dk1"/>
                </a:solidFill>
              </a:rPr>
            </a:br>
            <a:r>
              <a:rPr lang="en-US" sz="1100">
                <a:solidFill>
                  <a:schemeClr val="dk1"/>
                </a:solidFill>
              </a:rPr>
              <a:t>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Antwort: NEIN!</a:t>
            </a:r>
            <a:endParaRPr b="1"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sz="1100">
              <a:solidFill>
                <a:schemeClr val="dk1"/>
              </a:solidFill>
            </a:endParaRPr>
          </a:p>
          <a:p>
            <a:pPr indent="0" lvl="0" marL="45720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45" name="Shape 245"/>
        <p:cNvGrpSpPr/>
        <p:nvPr/>
      </p:nvGrpSpPr>
      <p:grpSpPr>
        <a:xfrm>
          <a:off x="0" y="0"/>
          <a:ext cx="0" cy="0"/>
          <a:chOff x="0" y="0"/>
          <a:chExt cx="0" cy="0"/>
        </a:xfrm>
      </p:grpSpPr>
      <p:sp>
        <p:nvSpPr>
          <p:cNvPr id="246" name="Google Shape;246;g2e63b4b50a3_0_21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Vectorization</a:t>
            </a:r>
            <a:endParaRPr b="0" i="0" sz="2300" u="none" cap="none" strike="noStrike">
              <a:solidFill>
                <a:srgbClr val="000000"/>
              </a:solidFill>
              <a:latin typeface="Arial"/>
              <a:ea typeface="Arial"/>
              <a:cs typeface="Arial"/>
              <a:sym typeface="Arial"/>
            </a:endParaRPr>
          </a:p>
        </p:txBody>
      </p:sp>
      <p:sp>
        <p:nvSpPr>
          <p:cNvPr id="247" name="Google Shape;247;g2e63b4b50a3_0_216"/>
          <p:cNvSpPr txBox="1"/>
          <p:nvPr/>
        </p:nvSpPr>
        <p:spPr>
          <a:xfrm>
            <a:off x="601650" y="1156950"/>
            <a:ext cx="7604700" cy="34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Wir müssen die Liste der Tokens in Zahlen umwandeln.</a:t>
            </a:r>
            <a:br>
              <a:rPr lang="en-US">
                <a:solidFill>
                  <a:schemeClr val="dk1"/>
                </a:solidFill>
              </a:rPr>
            </a:br>
            <a:r>
              <a:rPr b="1" lang="en-US">
                <a:solidFill>
                  <a:schemeClr val="dk1"/>
                </a:solidFill>
              </a:rPr>
              <a:t>Modelle verstehen nur Zahlen.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Es gibt verschiedene Techniken, um vorverarbeitete Texte zu vektorisieren: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Bag of Words (BoW)</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TF-IDF (Term Frequency-Inverse Document Frequency)</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Word Embeddings (z. B. Word2Vec, GloVe) oder Embedding-Schichten in neuronalen Netzwerken.</a:t>
            </a:r>
            <a:br>
              <a:rPr lang="en-US">
                <a:solidFill>
                  <a:schemeClr val="dk1"/>
                </a:solidFill>
              </a:rPr>
            </a:br>
            <a:endParaRPr>
              <a:solidFill>
                <a:schemeClr val="dk1"/>
              </a:solidFill>
            </a:endParaRPr>
          </a:p>
          <a:p>
            <a:pPr indent="0" lvl="0" marL="457200" marR="0" rtl="0" algn="l">
              <a:lnSpc>
                <a:spcPct val="100000"/>
              </a:lnSpc>
              <a:spcBef>
                <a:spcPts val="1200"/>
              </a:spcBef>
              <a:spcAft>
                <a:spcPts val="0"/>
              </a:spcAft>
              <a:buClr>
                <a:srgbClr val="000000"/>
              </a:buClr>
              <a:buSzPts val="1400"/>
              <a:buFont typeface="Arial"/>
              <a:buNone/>
            </a:pPr>
            <a:r>
              <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52" name="Shape 252"/>
        <p:cNvGrpSpPr/>
        <p:nvPr/>
      </p:nvGrpSpPr>
      <p:grpSpPr>
        <a:xfrm>
          <a:off x="0" y="0"/>
          <a:ext cx="0" cy="0"/>
          <a:chOff x="0" y="0"/>
          <a:chExt cx="0" cy="0"/>
        </a:xfrm>
      </p:grpSpPr>
      <p:sp>
        <p:nvSpPr>
          <p:cNvPr id="253" name="Google Shape;253;g32c3cf94e98_6_47"/>
          <p:cNvSpPr txBox="1"/>
          <p:nvPr/>
        </p:nvSpPr>
        <p:spPr>
          <a:xfrm>
            <a:off x="842725" y="1283425"/>
            <a:ext cx="7363500" cy="345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400"/>
              </a:spcBef>
              <a:spcAft>
                <a:spcPts val="0"/>
              </a:spcAft>
              <a:buClr>
                <a:schemeClr val="dk1"/>
              </a:buClr>
              <a:buSzPts val="1100"/>
              <a:buFont typeface="Arial"/>
              <a:buNone/>
            </a:pPr>
            <a:r>
              <a:rPr b="1" i="0" lang="en-US" sz="900" u="none" cap="none" strike="noStrike">
                <a:solidFill>
                  <a:schemeClr val="dk1"/>
                </a:solidFill>
                <a:latin typeface="Arial"/>
                <a:ea typeface="Arial"/>
                <a:cs typeface="Arial"/>
                <a:sym typeface="Arial"/>
              </a:rPr>
              <a:t>1. </a:t>
            </a:r>
            <a:r>
              <a:rPr b="1" lang="en-US" sz="900">
                <a:solidFill>
                  <a:schemeClr val="dk1"/>
                </a:solidFill>
              </a:rPr>
              <a:t>Vorverarbeitung und Tokenisierung des Textes</a:t>
            </a:r>
            <a:endParaRPr b="1" i="0" sz="900" u="none" cap="none" strike="noStrike">
              <a:solidFill>
                <a:schemeClr val="dk1"/>
              </a:solidFill>
              <a:latin typeface="Arial"/>
              <a:ea typeface="Arial"/>
              <a:cs typeface="Arial"/>
              <a:sym typeface="Arial"/>
            </a:endParaRPr>
          </a:p>
          <a:p>
            <a:pPr indent="-285750" lvl="0" marL="457200" marR="0" rtl="0" algn="l">
              <a:lnSpc>
                <a:spcPct val="100000"/>
              </a:lnSpc>
              <a:spcBef>
                <a:spcPts val="1200"/>
              </a:spcBef>
              <a:spcAft>
                <a:spcPts val="0"/>
              </a:spcAft>
              <a:buClr>
                <a:schemeClr val="dk1"/>
              </a:buClr>
              <a:buSzPts val="900"/>
              <a:buFont typeface="Arial"/>
              <a:buChar char="●"/>
            </a:pPr>
            <a:r>
              <a:rPr b="1" lang="en-US" sz="900">
                <a:solidFill>
                  <a:schemeClr val="dk1"/>
                </a:solidFill>
              </a:rPr>
              <a:t>Probe</a:t>
            </a:r>
            <a:r>
              <a:rPr b="1" i="0" lang="en-US" sz="900" u="none" cap="none" strike="noStrike">
                <a:solidFill>
                  <a:schemeClr val="dk1"/>
                </a:solidFill>
                <a:latin typeface="Arial"/>
                <a:ea typeface="Arial"/>
                <a:cs typeface="Arial"/>
                <a:sym typeface="Arial"/>
              </a:rPr>
              <a:t> 1:</a:t>
            </a:r>
            <a:r>
              <a:rPr b="0" i="0" lang="en-US" sz="900" u="none" cap="none" strike="noStrike">
                <a:solidFill>
                  <a:schemeClr val="dk1"/>
                </a:solidFill>
                <a:latin typeface="Arial"/>
                <a:ea typeface="Arial"/>
                <a:cs typeface="Arial"/>
                <a:sym typeface="Arial"/>
              </a:rPr>
              <a:t> ["the", "cat", "sat", "on", "the", "mat"]</a:t>
            </a:r>
            <a:endParaRPr b="0" i="0" sz="900" u="none" cap="none" strike="noStrike">
              <a:solidFill>
                <a:schemeClr val="dk1"/>
              </a:solidFill>
              <a:latin typeface="Arial"/>
              <a:ea typeface="Arial"/>
              <a:cs typeface="Arial"/>
              <a:sym typeface="Arial"/>
            </a:endParaRPr>
          </a:p>
          <a:p>
            <a:pPr indent="-285750" lvl="0" marL="457200" marR="0" rtl="0" algn="l">
              <a:lnSpc>
                <a:spcPct val="100000"/>
              </a:lnSpc>
              <a:spcBef>
                <a:spcPts val="0"/>
              </a:spcBef>
              <a:spcAft>
                <a:spcPts val="0"/>
              </a:spcAft>
              <a:buClr>
                <a:schemeClr val="dk1"/>
              </a:buClr>
              <a:buSzPts val="900"/>
              <a:buFont typeface="Arial"/>
              <a:buChar char="●"/>
            </a:pPr>
            <a:r>
              <a:rPr b="1" lang="en-US" sz="900">
                <a:solidFill>
                  <a:schemeClr val="dk1"/>
                </a:solidFill>
              </a:rPr>
              <a:t>Probe</a:t>
            </a:r>
            <a:r>
              <a:rPr b="1" i="0" lang="en-US" sz="900" u="none" cap="none" strike="noStrike">
                <a:solidFill>
                  <a:schemeClr val="dk1"/>
                </a:solidFill>
                <a:latin typeface="Arial"/>
                <a:ea typeface="Arial"/>
                <a:cs typeface="Arial"/>
                <a:sym typeface="Arial"/>
              </a:rPr>
              <a:t> 2:</a:t>
            </a:r>
            <a:r>
              <a:rPr b="0" i="0" lang="en-US" sz="900" u="none" cap="none" strike="noStrike">
                <a:solidFill>
                  <a:schemeClr val="dk1"/>
                </a:solidFill>
                <a:latin typeface="Arial"/>
                <a:ea typeface="Arial"/>
                <a:cs typeface="Arial"/>
                <a:sym typeface="Arial"/>
              </a:rPr>
              <a:t> ["the", "dog", "barked"]</a:t>
            </a:r>
            <a:endParaRPr b="0" i="0" sz="900" u="none" cap="none" strike="noStrike">
              <a:solidFill>
                <a:schemeClr val="dk1"/>
              </a:solidFill>
              <a:latin typeface="Arial"/>
              <a:ea typeface="Arial"/>
              <a:cs typeface="Arial"/>
              <a:sym typeface="Arial"/>
            </a:endParaRPr>
          </a:p>
          <a:p>
            <a:pPr indent="-285750" lvl="0" marL="457200" marR="0" rtl="0" algn="l">
              <a:lnSpc>
                <a:spcPct val="100000"/>
              </a:lnSpc>
              <a:spcBef>
                <a:spcPts val="0"/>
              </a:spcBef>
              <a:spcAft>
                <a:spcPts val="0"/>
              </a:spcAft>
              <a:buClr>
                <a:schemeClr val="dk1"/>
              </a:buClr>
              <a:buSzPts val="900"/>
              <a:buFont typeface="Arial"/>
              <a:buChar char="●"/>
            </a:pPr>
            <a:r>
              <a:rPr b="1" lang="en-US" sz="900">
                <a:solidFill>
                  <a:schemeClr val="dk1"/>
                </a:solidFill>
              </a:rPr>
              <a:t>Probe</a:t>
            </a:r>
            <a:r>
              <a:rPr b="1" i="0" lang="en-US" sz="900" u="none" cap="none" strike="noStrike">
                <a:solidFill>
                  <a:schemeClr val="dk1"/>
                </a:solidFill>
                <a:latin typeface="Arial"/>
                <a:ea typeface="Arial"/>
                <a:cs typeface="Arial"/>
                <a:sym typeface="Arial"/>
              </a:rPr>
              <a:t> 3:</a:t>
            </a:r>
            <a:r>
              <a:rPr b="0" i="0" lang="en-US" sz="900" u="none" cap="none" strike="noStrike">
                <a:solidFill>
                  <a:schemeClr val="dk1"/>
                </a:solidFill>
                <a:latin typeface="Arial"/>
                <a:ea typeface="Arial"/>
                <a:cs typeface="Arial"/>
                <a:sym typeface="Arial"/>
              </a:rPr>
              <a:t> ["the", "cat", "and", "dog", "played"]</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1100"/>
              <a:buFont typeface="Arial"/>
              <a:buNone/>
            </a:pPr>
            <a:r>
              <a:rPr b="1" i="0" lang="en-US" sz="900" u="none" cap="none" strike="noStrike">
                <a:solidFill>
                  <a:schemeClr val="dk1"/>
                </a:solidFill>
                <a:latin typeface="Arial"/>
                <a:ea typeface="Arial"/>
                <a:cs typeface="Arial"/>
                <a:sym typeface="Arial"/>
              </a:rPr>
              <a:t>2. </a:t>
            </a:r>
            <a:r>
              <a:rPr b="1" lang="en-US" sz="900">
                <a:solidFill>
                  <a:schemeClr val="dk1"/>
                </a:solidFill>
              </a:rPr>
              <a:t>Identifizieren Sie alle eindeutigen Token (Wörter) im gesamten Datensatz (Corpus)</a:t>
            </a:r>
            <a:endParaRPr b="1"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900">
                <a:solidFill>
                  <a:schemeClr val="dk1"/>
                </a:solidFill>
              </a:rPr>
              <a:t>Dies bildet das Vokabular.</a:t>
            </a:r>
            <a:endParaRPr b="1" sz="900">
              <a:solidFill>
                <a:schemeClr val="dk1"/>
              </a:solidFill>
            </a:endParaRPr>
          </a:p>
          <a:p>
            <a:pPr indent="-285750" lvl="0" marL="457200" marR="0" rtl="0" algn="l">
              <a:lnSpc>
                <a:spcPct val="100000"/>
              </a:lnSpc>
              <a:spcBef>
                <a:spcPts val="1200"/>
              </a:spcBef>
              <a:spcAft>
                <a:spcPts val="0"/>
              </a:spcAft>
              <a:buClr>
                <a:schemeClr val="dk1"/>
              </a:buClr>
              <a:buSzPts val="900"/>
              <a:buFont typeface="Arial"/>
              <a:buChar char="●"/>
            </a:pPr>
            <a:r>
              <a:rPr b="1" lang="en-US" sz="900">
                <a:solidFill>
                  <a:schemeClr val="dk1"/>
                </a:solidFill>
              </a:rPr>
              <a:t>Vokabular</a:t>
            </a:r>
            <a:r>
              <a:rPr b="1" i="0" lang="en-US" sz="900" u="none" cap="none" strike="noStrike">
                <a:solidFill>
                  <a:schemeClr val="dk1"/>
                </a:solidFill>
                <a:latin typeface="Arial"/>
                <a:ea typeface="Arial"/>
                <a:cs typeface="Arial"/>
                <a:sym typeface="Arial"/>
              </a:rPr>
              <a:t>:</a:t>
            </a:r>
            <a:r>
              <a:rPr b="0" i="0" lang="en-US" sz="900" u="none" cap="none" strike="noStrike">
                <a:solidFill>
                  <a:schemeClr val="dk1"/>
                </a:solidFill>
                <a:latin typeface="Arial"/>
                <a:ea typeface="Arial"/>
                <a:cs typeface="Arial"/>
                <a:sym typeface="Arial"/>
              </a:rPr>
              <a:t> ["the", "cat", "sat", "on", "mat", "dog", "barked", "and", "played"]</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1100"/>
              <a:buFont typeface="Arial"/>
              <a:buNone/>
            </a:pPr>
            <a:r>
              <a:rPr b="1" i="0" lang="en-US" sz="900" u="none" cap="none" strike="noStrike">
                <a:solidFill>
                  <a:schemeClr val="dk1"/>
                </a:solidFill>
                <a:latin typeface="Arial"/>
                <a:ea typeface="Arial"/>
                <a:cs typeface="Arial"/>
                <a:sym typeface="Arial"/>
              </a:rPr>
              <a:t>3. </a:t>
            </a:r>
            <a:r>
              <a:rPr b="1" lang="en-US" sz="900">
                <a:solidFill>
                  <a:schemeClr val="dk1"/>
                </a:solidFill>
              </a:rPr>
              <a:t>Vektoren für jedes Textmuster erstellen</a:t>
            </a:r>
            <a:endParaRPr b="1" i="0" sz="900" u="none" cap="none" strike="noStrike">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US" sz="900">
                <a:solidFill>
                  <a:schemeClr val="dk1"/>
                </a:solidFill>
              </a:rPr>
              <a:t>Für jede Textprobe wird ein Vektor erstellt, der die Vorkommen der einzelnen Wörter aus dem Vokabular zählt.</a:t>
            </a:r>
            <a:endParaRPr sz="900">
              <a:solidFill>
                <a:schemeClr val="dk1"/>
              </a:solidFill>
            </a:endParaRPr>
          </a:p>
          <a:p>
            <a:pPr indent="-285750" lvl="0" marL="457200" marR="0" rtl="0" algn="l">
              <a:lnSpc>
                <a:spcPct val="100000"/>
              </a:lnSpc>
              <a:spcBef>
                <a:spcPts val="1200"/>
              </a:spcBef>
              <a:spcAft>
                <a:spcPts val="0"/>
              </a:spcAft>
              <a:buClr>
                <a:schemeClr val="dk1"/>
              </a:buClr>
              <a:buSzPts val="900"/>
              <a:buFont typeface="Arial"/>
              <a:buChar char="●"/>
            </a:pPr>
            <a:r>
              <a:rPr b="1" lang="en-US" sz="900">
                <a:solidFill>
                  <a:schemeClr val="dk1"/>
                </a:solidFill>
              </a:rPr>
              <a:t>Probe</a:t>
            </a:r>
            <a:r>
              <a:rPr b="1" i="0" lang="en-US" sz="900" u="none" cap="none" strike="noStrike">
                <a:solidFill>
                  <a:schemeClr val="dk1"/>
                </a:solidFill>
                <a:latin typeface="Arial"/>
                <a:ea typeface="Arial"/>
                <a:cs typeface="Arial"/>
                <a:sym typeface="Arial"/>
              </a:rPr>
              <a:t> 1:</a:t>
            </a:r>
            <a:r>
              <a:rPr b="0" i="0" lang="en-US" sz="900" u="none" cap="none" strike="noStrike">
                <a:solidFill>
                  <a:schemeClr val="dk1"/>
                </a:solidFill>
                <a:latin typeface="Arial"/>
                <a:ea typeface="Arial"/>
                <a:cs typeface="Arial"/>
                <a:sym typeface="Arial"/>
              </a:rPr>
              <a:t> ["the", "cat", "sat", "on", "the", "mat"]</a:t>
            </a:r>
            <a:endParaRPr b="0" i="0" sz="900" u="none" cap="none" strike="noStrike">
              <a:solidFill>
                <a:schemeClr val="dk1"/>
              </a:solidFill>
              <a:latin typeface="Arial"/>
              <a:ea typeface="Arial"/>
              <a:cs typeface="Arial"/>
              <a:sym typeface="Arial"/>
            </a:endParaRPr>
          </a:p>
          <a:p>
            <a:pPr indent="-285750" lvl="1" marL="914400" marR="0" rtl="0" algn="l">
              <a:lnSpc>
                <a:spcPct val="100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Vector:</a:t>
            </a:r>
            <a:r>
              <a:rPr b="0" i="0" lang="en-US" sz="900" u="none" cap="none" strike="noStrike">
                <a:solidFill>
                  <a:schemeClr val="dk1"/>
                </a:solidFill>
                <a:latin typeface="Arial"/>
                <a:ea typeface="Arial"/>
                <a:cs typeface="Arial"/>
                <a:sym typeface="Arial"/>
              </a:rPr>
              <a:t> [2, 1, 1, 1, 1, 0, 0, 0, 0]</a:t>
            </a:r>
            <a:endParaRPr b="0" i="0" sz="900" u="none" cap="none" strike="noStrike">
              <a:solidFill>
                <a:schemeClr val="dk1"/>
              </a:solidFill>
              <a:latin typeface="Arial"/>
              <a:ea typeface="Arial"/>
              <a:cs typeface="Arial"/>
              <a:sym typeface="Arial"/>
            </a:endParaRPr>
          </a:p>
          <a:p>
            <a:pPr indent="-285750" lvl="1" marL="914400" marR="0" rtl="0" algn="l">
              <a:lnSpc>
                <a:spcPct val="100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(2 occurrences of "the", 1 of "cat", 1 of "sat", etc.)</a:t>
            </a:r>
            <a:endParaRPr b="0" i="0" sz="900" u="none" cap="none" strike="noStrike">
              <a:solidFill>
                <a:schemeClr val="dk1"/>
              </a:solidFill>
              <a:latin typeface="Arial"/>
              <a:ea typeface="Arial"/>
              <a:cs typeface="Arial"/>
              <a:sym typeface="Arial"/>
            </a:endParaRPr>
          </a:p>
          <a:p>
            <a:pPr indent="-285750" lvl="0" marL="457200" marR="0" rtl="0" algn="l">
              <a:lnSpc>
                <a:spcPct val="100000"/>
              </a:lnSpc>
              <a:spcBef>
                <a:spcPts val="0"/>
              </a:spcBef>
              <a:spcAft>
                <a:spcPts val="0"/>
              </a:spcAft>
              <a:buClr>
                <a:schemeClr val="dk1"/>
              </a:buClr>
              <a:buSzPts val="900"/>
              <a:buFont typeface="Arial"/>
              <a:buChar char="●"/>
            </a:pPr>
            <a:r>
              <a:rPr b="1" lang="en-US" sz="900">
                <a:solidFill>
                  <a:schemeClr val="dk1"/>
                </a:solidFill>
              </a:rPr>
              <a:t>Probe</a:t>
            </a:r>
            <a:r>
              <a:rPr b="1" i="0" lang="en-US" sz="900" u="none" cap="none" strike="noStrike">
                <a:solidFill>
                  <a:schemeClr val="dk1"/>
                </a:solidFill>
                <a:latin typeface="Arial"/>
                <a:ea typeface="Arial"/>
                <a:cs typeface="Arial"/>
                <a:sym typeface="Arial"/>
              </a:rPr>
              <a:t> 2:</a:t>
            </a:r>
            <a:r>
              <a:rPr b="0" i="0" lang="en-US" sz="900" u="none" cap="none" strike="noStrike">
                <a:solidFill>
                  <a:schemeClr val="dk1"/>
                </a:solidFill>
                <a:latin typeface="Arial"/>
                <a:ea typeface="Arial"/>
                <a:cs typeface="Arial"/>
                <a:sym typeface="Arial"/>
              </a:rPr>
              <a:t> ["the", "dog", "barked"]</a:t>
            </a:r>
            <a:endParaRPr b="0" i="0" sz="900" u="none" cap="none" strike="noStrike">
              <a:solidFill>
                <a:schemeClr val="dk1"/>
              </a:solidFill>
              <a:latin typeface="Arial"/>
              <a:ea typeface="Arial"/>
              <a:cs typeface="Arial"/>
              <a:sym typeface="Arial"/>
            </a:endParaRPr>
          </a:p>
          <a:p>
            <a:pPr indent="-285750" lvl="1" marL="914400" marR="0" rtl="0" algn="l">
              <a:lnSpc>
                <a:spcPct val="100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Vector:</a:t>
            </a:r>
            <a:r>
              <a:rPr b="0" i="0" lang="en-US" sz="900" u="none" cap="none" strike="noStrike">
                <a:solidFill>
                  <a:schemeClr val="dk1"/>
                </a:solidFill>
                <a:latin typeface="Arial"/>
                <a:ea typeface="Arial"/>
                <a:cs typeface="Arial"/>
                <a:sym typeface="Arial"/>
              </a:rPr>
              <a:t> [1, 0, 0, 0, 0, 1, 1, 0, 0]</a:t>
            </a:r>
            <a:endParaRPr b="0" i="0" sz="900" u="none" cap="none" strike="noStrike">
              <a:solidFill>
                <a:schemeClr val="dk1"/>
              </a:solidFill>
              <a:latin typeface="Arial"/>
              <a:ea typeface="Arial"/>
              <a:cs typeface="Arial"/>
              <a:sym typeface="Arial"/>
            </a:endParaRPr>
          </a:p>
          <a:p>
            <a:pPr indent="-285750" lvl="1" marL="914400" marR="0" rtl="0" algn="l">
              <a:lnSpc>
                <a:spcPct val="100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(1 occurrence of "the", 1 of "dog", 1 of "barked")</a:t>
            </a:r>
            <a:endParaRPr b="0" i="0" sz="900" u="none" cap="none" strike="noStrike">
              <a:solidFill>
                <a:schemeClr val="dk1"/>
              </a:solidFill>
              <a:latin typeface="Arial"/>
              <a:ea typeface="Arial"/>
              <a:cs typeface="Arial"/>
              <a:sym typeface="Arial"/>
            </a:endParaRPr>
          </a:p>
          <a:p>
            <a:pPr indent="-285750" lvl="0" marL="457200" marR="0" rtl="0" algn="l">
              <a:lnSpc>
                <a:spcPct val="100000"/>
              </a:lnSpc>
              <a:spcBef>
                <a:spcPts val="0"/>
              </a:spcBef>
              <a:spcAft>
                <a:spcPts val="0"/>
              </a:spcAft>
              <a:buClr>
                <a:schemeClr val="dk1"/>
              </a:buClr>
              <a:buSzPts val="900"/>
              <a:buFont typeface="Arial"/>
              <a:buChar char="●"/>
            </a:pPr>
            <a:r>
              <a:rPr b="1" lang="en-US" sz="900">
                <a:solidFill>
                  <a:schemeClr val="dk1"/>
                </a:solidFill>
              </a:rPr>
              <a:t>Probe</a:t>
            </a:r>
            <a:r>
              <a:rPr b="1" i="0" lang="en-US" sz="900" u="none" cap="none" strike="noStrike">
                <a:solidFill>
                  <a:schemeClr val="dk1"/>
                </a:solidFill>
                <a:latin typeface="Arial"/>
                <a:ea typeface="Arial"/>
                <a:cs typeface="Arial"/>
                <a:sym typeface="Arial"/>
              </a:rPr>
              <a:t> 3:</a:t>
            </a:r>
            <a:r>
              <a:rPr b="0" i="0" lang="en-US" sz="900" u="none" cap="none" strike="noStrike">
                <a:solidFill>
                  <a:schemeClr val="dk1"/>
                </a:solidFill>
                <a:latin typeface="Arial"/>
                <a:ea typeface="Arial"/>
                <a:cs typeface="Arial"/>
                <a:sym typeface="Arial"/>
              </a:rPr>
              <a:t> ["the", "cat", "and", "dog", "played"]</a:t>
            </a:r>
            <a:endParaRPr b="0" i="0" sz="900" u="none" cap="none" strike="noStrike">
              <a:solidFill>
                <a:schemeClr val="dk1"/>
              </a:solidFill>
              <a:latin typeface="Arial"/>
              <a:ea typeface="Arial"/>
              <a:cs typeface="Arial"/>
              <a:sym typeface="Arial"/>
            </a:endParaRPr>
          </a:p>
          <a:p>
            <a:pPr indent="-285750" lvl="1" marL="914400" marR="0" rtl="0" algn="l">
              <a:lnSpc>
                <a:spcPct val="100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Vector:</a:t>
            </a:r>
            <a:r>
              <a:rPr b="0" i="0" lang="en-US" sz="900" u="none" cap="none" strike="noStrike">
                <a:solidFill>
                  <a:schemeClr val="dk1"/>
                </a:solidFill>
                <a:latin typeface="Arial"/>
                <a:ea typeface="Arial"/>
                <a:cs typeface="Arial"/>
                <a:sym typeface="Arial"/>
              </a:rPr>
              <a:t> [1, 1, 0, 0, 0, 1, 0, 1, 1]</a:t>
            </a:r>
            <a:endParaRPr b="0" i="0" sz="900" u="none" cap="none" strike="noStrike">
              <a:solidFill>
                <a:schemeClr val="dk1"/>
              </a:solidFill>
              <a:latin typeface="Arial"/>
              <a:ea typeface="Arial"/>
              <a:cs typeface="Arial"/>
              <a:sym typeface="Arial"/>
            </a:endParaRPr>
          </a:p>
          <a:p>
            <a:pPr indent="-285750" lvl="1" marL="914400" marR="0" rtl="0" algn="l">
              <a:lnSpc>
                <a:spcPct val="100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(1 occurrence of "the", 1 of "cat", 1 of "dog", etc.)</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900" u="none" cap="none" strike="noStrike">
              <a:solidFill>
                <a:schemeClr val="dk1"/>
              </a:solidFill>
              <a:latin typeface="Arial"/>
              <a:ea typeface="Arial"/>
              <a:cs typeface="Arial"/>
              <a:sym typeface="Arial"/>
            </a:endParaRPr>
          </a:p>
        </p:txBody>
      </p:sp>
      <p:sp>
        <p:nvSpPr>
          <p:cNvPr id="254" name="Google Shape;254;g32c3cf94e98_6_47"/>
          <p:cNvSpPr txBox="1"/>
          <p:nvPr/>
        </p:nvSpPr>
        <p:spPr>
          <a:xfrm>
            <a:off x="3505725" y="1591325"/>
            <a:ext cx="5668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2c3cf94e98_6_47"/>
          <p:cNvSpPr txBox="1"/>
          <p:nvPr/>
        </p:nvSpPr>
        <p:spPr>
          <a:xfrm>
            <a:off x="601650" y="311875"/>
            <a:ext cx="6377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4.1 Bag of Words (BoW) </a:t>
            </a:r>
            <a:r>
              <a:rPr lang="en-US" sz="2300"/>
              <a:t>Beispiel</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60" name="Shape 260"/>
        <p:cNvGrpSpPr/>
        <p:nvPr/>
      </p:nvGrpSpPr>
      <p:grpSpPr>
        <a:xfrm>
          <a:off x="0" y="0"/>
          <a:ext cx="0" cy="0"/>
          <a:chOff x="0" y="0"/>
          <a:chExt cx="0" cy="0"/>
        </a:xfrm>
      </p:grpSpPr>
      <p:sp>
        <p:nvSpPr>
          <p:cNvPr id="261" name="Google Shape;261;g32c3cf94e98_6_57"/>
          <p:cNvSpPr txBox="1"/>
          <p:nvPr/>
        </p:nvSpPr>
        <p:spPr>
          <a:xfrm>
            <a:off x="3505725" y="1591325"/>
            <a:ext cx="5668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2c3cf94e98_6_57"/>
          <p:cNvSpPr txBox="1"/>
          <p:nvPr/>
        </p:nvSpPr>
        <p:spPr>
          <a:xfrm>
            <a:off x="579775" y="812525"/>
            <a:ext cx="62277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US" sz="1200">
                <a:solidFill>
                  <a:schemeClr val="dk1"/>
                </a:solidFill>
              </a:rPr>
              <a:t>Abschließend werden die einzelnen Vektoren zu einer Merkmalsmatrix zusammengefügt, wobei jede Zeile eine Stichprobe und jede Spalte ein Wort im Vokabular repräsentiert.</a:t>
            </a:r>
            <a:endParaRPr sz="1200">
              <a:solidFill>
                <a:schemeClr val="dk1"/>
              </a:solidFill>
            </a:endParaRPr>
          </a:p>
        </p:txBody>
      </p:sp>
      <p:pic>
        <p:nvPicPr>
          <p:cNvPr id="263" name="Google Shape;263;g32c3cf94e98_6_57"/>
          <p:cNvPicPr preferRelativeResize="0"/>
          <p:nvPr/>
        </p:nvPicPr>
        <p:blipFill rotWithShape="1">
          <a:blip r:embed="rId3">
            <a:alphaModFix/>
          </a:blip>
          <a:srcRect b="0" l="0" r="1213" t="0"/>
          <a:stretch/>
        </p:blipFill>
        <p:spPr>
          <a:xfrm>
            <a:off x="1821325" y="1922625"/>
            <a:ext cx="6711674" cy="2485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6F1">
            <a:alpha val="20000"/>
          </a:srgbClr>
        </a:solidFill>
      </p:bgPr>
    </p:bg>
    <p:spTree>
      <p:nvGrpSpPr>
        <p:cNvPr id="268" name="Shape 268"/>
        <p:cNvGrpSpPr/>
        <p:nvPr/>
      </p:nvGrpSpPr>
      <p:grpSpPr>
        <a:xfrm>
          <a:off x="0" y="0"/>
          <a:ext cx="0" cy="0"/>
          <a:chOff x="0" y="0"/>
          <a:chExt cx="0" cy="0"/>
        </a:xfrm>
      </p:grpSpPr>
      <p:pic>
        <p:nvPicPr>
          <p:cNvPr descr="https://pitch-assets-ccb95893-de3f-4266-973c-20049231b248.s3.eu-west-1.amazonaws.com/e6fbe938-9ab3-4078-9dc5-46db69eaead6?pitch-bytes=41928&amp;pitch-content-type=image%2Fpng" id="269" name="Google Shape;269;g2e63b4b50a3_0_226"/>
          <p:cNvPicPr preferRelativeResize="0"/>
          <p:nvPr/>
        </p:nvPicPr>
        <p:blipFill rotWithShape="1">
          <a:blip r:embed="rId3">
            <a:alphaModFix/>
          </a:blip>
          <a:srcRect b="0" l="0" r="0" t="0"/>
          <a:stretch/>
        </p:blipFill>
        <p:spPr>
          <a:xfrm>
            <a:off x="0" y="6486"/>
            <a:ext cx="9144000" cy="5143500"/>
          </a:xfrm>
          <a:prstGeom prst="rect">
            <a:avLst/>
          </a:prstGeom>
          <a:noFill/>
          <a:ln>
            <a:noFill/>
          </a:ln>
        </p:spPr>
      </p:pic>
      <p:sp>
        <p:nvSpPr>
          <p:cNvPr id="270" name="Google Shape;270;g2e63b4b50a3_0_22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Bag of Words (BoW)</a:t>
            </a:r>
            <a:endParaRPr b="0" i="0" sz="2300" u="none" cap="none" strike="noStrike">
              <a:solidFill>
                <a:srgbClr val="000000"/>
              </a:solidFill>
              <a:latin typeface="Arial"/>
              <a:ea typeface="Arial"/>
              <a:cs typeface="Arial"/>
              <a:sym typeface="Arial"/>
            </a:endParaRPr>
          </a:p>
        </p:txBody>
      </p:sp>
      <p:sp>
        <p:nvSpPr>
          <p:cNvPr id="271" name="Google Shape;271;g2e63b4b50a3_0_226"/>
          <p:cNvSpPr txBox="1"/>
          <p:nvPr/>
        </p:nvSpPr>
        <p:spPr>
          <a:xfrm>
            <a:off x="4977300" y="1156950"/>
            <a:ext cx="3723600" cy="3454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Char char="●"/>
            </a:pPr>
            <a:r>
              <a:rPr lang="en-US"/>
              <a:t>Angenommen, wir haben den linken Datensatz.</a:t>
            </a:r>
            <a:endParaRPr/>
          </a:p>
          <a:p>
            <a:pPr indent="-317500" lvl="0" marL="457200" rtl="0" algn="l">
              <a:lnSpc>
                <a:spcPct val="115000"/>
              </a:lnSpc>
              <a:spcBef>
                <a:spcPts val="0"/>
              </a:spcBef>
              <a:spcAft>
                <a:spcPts val="0"/>
              </a:spcAft>
              <a:buSzPts val="1400"/>
              <a:buChar char="●"/>
            </a:pPr>
            <a:r>
              <a:rPr lang="en-US"/>
              <a:t>Wir haben ihn vorverarbeitet und für jede Stichprobe die Tokens ermittelt.</a:t>
            </a:r>
            <a:endParaRPr/>
          </a:p>
          <a:p>
            <a:pPr indent="-317500" lvl="0" marL="457200" rtl="0" algn="l">
              <a:lnSpc>
                <a:spcPct val="115000"/>
              </a:lnSpc>
              <a:spcBef>
                <a:spcPts val="0"/>
              </a:spcBef>
              <a:spcAft>
                <a:spcPts val="0"/>
              </a:spcAft>
              <a:buSzPts val="1400"/>
              <a:buChar char="●"/>
            </a:pPr>
            <a:r>
              <a:rPr lang="en-US"/>
              <a:t>Die Idee von Bag of Words (BoW) ist es, jeder Stichprobe einen Vektor zuzuweisen, der die Häufigkeit der verschiedenen Tokens anzeigt.</a:t>
            </a:r>
            <a:endParaRPr/>
          </a:p>
          <a:p>
            <a:pPr indent="-317500" lvl="0" marL="457200" rtl="0" algn="l">
              <a:lnSpc>
                <a:spcPct val="115000"/>
              </a:lnSpc>
              <a:spcBef>
                <a:spcPts val="0"/>
              </a:spcBef>
              <a:spcAft>
                <a:spcPts val="0"/>
              </a:spcAft>
              <a:buSzPts val="1400"/>
              <a:buChar char="●"/>
            </a:pPr>
            <a:r>
              <a:rPr lang="en-US"/>
              <a:t>Dabei wird ein Vokabular aus allen einzigartigen Wörtern im Korpus erstellt und anschließend für jedes Dokument die Anzahl der Vorkommen jedes Wortes gezählt.</a:t>
            </a:r>
            <a:endParaRPr/>
          </a:p>
          <a:p>
            <a:pPr indent="0" lvl="0" marL="0" marR="0" rtl="0" algn="l">
              <a:lnSpc>
                <a:spcPct val="100000"/>
              </a:lnSpc>
              <a:spcBef>
                <a:spcPts val="1200"/>
              </a:spcBef>
              <a:spcAft>
                <a:spcPts val="0"/>
              </a:spcAft>
              <a:buNone/>
            </a:pPr>
            <a:r>
              <a:t/>
            </a:r>
            <a:endParaRPr/>
          </a:p>
        </p:txBody>
      </p:sp>
      <p:pic>
        <p:nvPicPr>
          <p:cNvPr id="272" name="Google Shape;272;g2e63b4b50a3_0_226"/>
          <p:cNvPicPr preferRelativeResize="0"/>
          <p:nvPr/>
        </p:nvPicPr>
        <p:blipFill rotWithShape="1">
          <a:blip r:embed="rId4">
            <a:alphaModFix/>
          </a:blip>
          <a:srcRect b="0" l="0" r="0" t="0"/>
          <a:stretch/>
        </p:blipFill>
        <p:spPr>
          <a:xfrm>
            <a:off x="411975" y="1199248"/>
            <a:ext cx="4344450" cy="3580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6F1">
            <a:alpha val="20000"/>
          </a:srgbClr>
        </a:solidFill>
      </p:bgPr>
    </p:bg>
    <p:spTree>
      <p:nvGrpSpPr>
        <p:cNvPr id="277" name="Shape 277"/>
        <p:cNvGrpSpPr/>
        <p:nvPr/>
      </p:nvGrpSpPr>
      <p:grpSpPr>
        <a:xfrm>
          <a:off x="0" y="0"/>
          <a:ext cx="0" cy="0"/>
          <a:chOff x="0" y="0"/>
          <a:chExt cx="0" cy="0"/>
        </a:xfrm>
      </p:grpSpPr>
      <p:sp>
        <p:nvSpPr>
          <p:cNvPr id="278" name="Google Shape;278;g2e63b4b50a3_0_236"/>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Bag of Words (BoW)</a:t>
            </a:r>
            <a:endParaRPr b="0" i="0" sz="2300" u="none" cap="none" strike="noStrike">
              <a:solidFill>
                <a:srgbClr val="000000"/>
              </a:solidFill>
              <a:latin typeface="Arial"/>
              <a:ea typeface="Arial"/>
              <a:cs typeface="Arial"/>
              <a:sym typeface="Arial"/>
            </a:endParaRPr>
          </a:p>
        </p:txBody>
      </p:sp>
      <p:sp>
        <p:nvSpPr>
          <p:cNvPr id="279" name="Google Shape;279;g2e63b4b50a3_0_236"/>
          <p:cNvSpPr txBox="1"/>
          <p:nvPr/>
        </p:nvSpPr>
        <p:spPr>
          <a:xfrm>
            <a:off x="5486925" y="1306050"/>
            <a:ext cx="3510900" cy="2679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lang="en-US"/>
              <a:t>Vokabular einzigartiger Wörter</a:t>
            </a:r>
            <a:endParaRPr/>
          </a:p>
          <a:p>
            <a:pPr indent="0" lvl="0" marL="457200" marR="0" rtl="0" algn="l">
              <a:lnSpc>
                <a:spcPct val="100000"/>
              </a:lnSpc>
              <a:spcBef>
                <a:spcPts val="0"/>
              </a:spcBef>
              <a:spcAft>
                <a:spcPts val="0"/>
              </a:spcAft>
              <a:buNone/>
            </a:pPr>
            <a:r>
              <a:t/>
            </a:r>
            <a:endParaRPr/>
          </a:p>
          <a:p>
            <a:pPr indent="0" lvl="0" marL="4572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['another', 'barking', 'blue', 'book', 'cat', 'dog', 'friend', 'guitar', 'loudly', 'love', 'mat', 'park', 'play', 'read', 'run', 'sings', 'sky']</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0" name="Google Shape;280;g2e63b4b50a3_0_236"/>
          <p:cNvPicPr preferRelativeResize="0"/>
          <p:nvPr/>
        </p:nvPicPr>
        <p:blipFill rotWithShape="1">
          <a:blip r:embed="rId3">
            <a:alphaModFix/>
          </a:blip>
          <a:srcRect b="0" l="0" r="0" t="0"/>
          <a:stretch/>
        </p:blipFill>
        <p:spPr>
          <a:xfrm>
            <a:off x="405025" y="1306050"/>
            <a:ext cx="5081899" cy="302985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6F1">
            <a:alpha val="20000"/>
          </a:srgbClr>
        </a:solidFill>
      </p:bgPr>
    </p:bg>
    <p:spTree>
      <p:nvGrpSpPr>
        <p:cNvPr id="285" name="Shape 285"/>
        <p:cNvGrpSpPr/>
        <p:nvPr/>
      </p:nvGrpSpPr>
      <p:grpSpPr>
        <a:xfrm>
          <a:off x="0" y="0"/>
          <a:ext cx="0" cy="0"/>
          <a:chOff x="0" y="0"/>
          <a:chExt cx="0" cy="0"/>
        </a:xfrm>
      </p:grpSpPr>
      <p:sp>
        <p:nvSpPr>
          <p:cNvPr id="286" name="Google Shape;286;g2e63b4b50a3_0_245"/>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Bag of Words (BoW)</a:t>
            </a:r>
            <a:endParaRPr b="0" i="0" sz="2300" u="none" cap="none" strike="noStrike">
              <a:solidFill>
                <a:srgbClr val="000000"/>
              </a:solidFill>
              <a:latin typeface="Arial"/>
              <a:ea typeface="Arial"/>
              <a:cs typeface="Arial"/>
              <a:sym typeface="Arial"/>
            </a:endParaRPr>
          </a:p>
        </p:txBody>
      </p:sp>
      <p:pic>
        <p:nvPicPr>
          <p:cNvPr id="287" name="Google Shape;287;g2e63b4b50a3_0_245"/>
          <p:cNvPicPr preferRelativeResize="0"/>
          <p:nvPr/>
        </p:nvPicPr>
        <p:blipFill rotWithShape="1">
          <a:blip r:embed="rId3">
            <a:alphaModFix/>
          </a:blip>
          <a:srcRect b="0" l="0" r="0" t="0"/>
          <a:stretch/>
        </p:blipFill>
        <p:spPr>
          <a:xfrm>
            <a:off x="174250" y="1538275"/>
            <a:ext cx="8795501" cy="2343025"/>
          </a:xfrm>
          <a:prstGeom prst="rect">
            <a:avLst/>
          </a:prstGeom>
          <a:noFill/>
          <a:ln>
            <a:noFill/>
          </a:ln>
        </p:spPr>
      </p:pic>
      <p:sp>
        <p:nvSpPr>
          <p:cNvPr id="288" name="Google Shape;288;g2e63b4b50a3_0_245"/>
          <p:cNvSpPr/>
          <p:nvPr/>
        </p:nvSpPr>
        <p:spPr>
          <a:xfrm>
            <a:off x="4125100" y="1749925"/>
            <a:ext cx="241800" cy="220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89" name="Google Shape;289;g2e63b4b50a3_0_245"/>
          <p:cNvSpPr/>
          <p:nvPr/>
        </p:nvSpPr>
        <p:spPr>
          <a:xfrm>
            <a:off x="5329325" y="1749925"/>
            <a:ext cx="241800" cy="220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90" name="Google Shape;290;g2e63b4b50a3_0_245"/>
          <p:cNvSpPr/>
          <p:nvPr/>
        </p:nvSpPr>
        <p:spPr>
          <a:xfrm>
            <a:off x="7154175" y="1749925"/>
            <a:ext cx="241800" cy="220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91" name="Google Shape;291;g2e63b4b50a3_0_245"/>
          <p:cNvSpPr/>
          <p:nvPr/>
        </p:nvSpPr>
        <p:spPr>
          <a:xfrm>
            <a:off x="4813700" y="3343100"/>
            <a:ext cx="241800" cy="220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92" name="Google Shape;292;g2e63b4b50a3_0_245"/>
          <p:cNvSpPr/>
          <p:nvPr/>
        </p:nvSpPr>
        <p:spPr>
          <a:xfrm>
            <a:off x="5087525" y="3343100"/>
            <a:ext cx="241800" cy="220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93" name="Google Shape;293;g2e63b4b50a3_0_245"/>
          <p:cNvSpPr/>
          <p:nvPr/>
        </p:nvSpPr>
        <p:spPr>
          <a:xfrm>
            <a:off x="7964175" y="3343100"/>
            <a:ext cx="241800" cy="220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298" name="Shape 298"/>
        <p:cNvGrpSpPr/>
        <p:nvPr/>
      </p:nvGrpSpPr>
      <p:grpSpPr>
        <a:xfrm>
          <a:off x="0" y="0"/>
          <a:ext cx="0" cy="0"/>
          <a:chOff x="0" y="0"/>
          <a:chExt cx="0" cy="0"/>
        </a:xfrm>
      </p:grpSpPr>
      <p:sp>
        <p:nvSpPr>
          <p:cNvPr id="299" name="Google Shape;299;g2e63b4b50a3_0_260"/>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Bag of Words (BoW)</a:t>
            </a:r>
            <a:endParaRPr b="0" i="0" sz="2300" u="none" cap="none" strike="noStrike">
              <a:solidFill>
                <a:srgbClr val="000000"/>
              </a:solidFill>
              <a:latin typeface="Arial"/>
              <a:ea typeface="Arial"/>
              <a:cs typeface="Arial"/>
              <a:sym typeface="Arial"/>
            </a:endParaRPr>
          </a:p>
        </p:txBody>
      </p:sp>
      <p:sp>
        <p:nvSpPr>
          <p:cNvPr id="300" name="Google Shape;300;g2e63b4b50a3_0_260"/>
          <p:cNvSpPr txBox="1"/>
          <p:nvPr/>
        </p:nvSpPr>
        <p:spPr>
          <a:xfrm>
            <a:off x="612175" y="1192775"/>
            <a:ext cx="7794000" cy="339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Wie du gesehen hast, berücksichtigt BoW die Wortreihenfolge nicht.</a:t>
            </a:r>
            <a:endParaRPr/>
          </a:p>
          <a:p>
            <a:pPr indent="0" lvl="0" marL="0" rtl="0" algn="l">
              <a:lnSpc>
                <a:spcPct val="115000"/>
              </a:lnSpc>
              <a:spcBef>
                <a:spcPts val="1200"/>
              </a:spcBef>
              <a:spcAft>
                <a:spcPts val="0"/>
              </a:spcAft>
              <a:buClr>
                <a:schemeClr val="dk1"/>
              </a:buClr>
              <a:buSzPts val="1100"/>
              <a:buFont typeface="Arial"/>
              <a:buNone/>
            </a:pPr>
            <a:br>
              <a:rPr lang="en-US"/>
            </a:br>
            <a:r>
              <a:rPr lang="en-US"/>
              <a:t>Wie der Name schon sagt, ist es eine „Tüte voller Wörter“. Wir packen die wichtigen Wörter in diese Tüte und setzen je nach Position im Wörterbuch eine 1 unter ein Wort, wenn es einmal vorkommt, eine 2, wenn es zweimal vorkommt, und so weiter bei mehrfachen Vorkommen.</a:t>
            </a:r>
            <a:endParaRPr/>
          </a:p>
          <a:p>
            <a:pPr indent="0" lvl="0" marL="0" rtl="0" algn="l">
              <a:lnSpc>
                <a:spcPct val="115000"/>
              </a:lnSpc>
              <a:spcBef>
                <a:spcPts val="1200"/>
              </a:spcBef>
              <a:spcAft>
                <a:spcPts val="0"/>
              </a:spcAft>
              <a:buClr>
                <a:schemeClr val="dk1"/>
              </a:buClr>
              <a:buSzPts val="1100"/>
              <a:buFont typeface="Arial"/>
              <a:buNone/>
            </a:pPr>
            <a:r>
              <a:rPr lang="en-US"/>
              <a:t>BoW-Vektoren repräsentieren für uns jedes Dokument, und wir können mit ihnen statt mit dem reinen Text arbeiten.</a:t>
            </a:r>
            <a:br>
              <a:rPr lang="en-US"/>
            </a:br>
            <a:endParaRPr/>
          </a:p>
          <a:p>
            <a:pPr indent="0" lvl="0" marL="0" rtl="0" algn="l">
              <a:lnSpc>
                <a:spcPct val="115000"/>
              </a:lnSpc>
              <a:spcBef>
                <a:spcPts val="1200"/>
              </a:spcBef>
              <a:spcAft>
                <a:spcPts val="0"/>
              </a:spcAft>
              <a:buClr>
                <a:schemeClr val="dk1"/>
              </a:buClr>
              <a:buSzPts val="1100"/>
              <a:buFont typeface="Arial"/>
              <a:buNone/>
            </a:pPr>
            <a:r>
              <a:rPr lang="en-US"/>
              <a:t>Das ist eine Möglichkeit der Vektorisierung, manchmal auch Featurisierung genannt.</a:t>
            </a:r>
            <a:endParaRPr/>
          </a:p>
          <a:p>
            <a:pPr indent="0" lvl="0" marL="457200" marR="0" rtl="0" algn="l">
              <a:lnSpc>
                <a:spcPct val="100000"/>
              </a:lnSpc>
              <a:spcBef>
                <a:spcPts val="1200"/>
              </a:spcBef>
              <a:spcAft>
                <a:spcPts val="0"/>
              </a:spcAft>
              <a:buClr>
                <a:srgbClr val="000000"/>
              </a:buClr>
              <a:buSzPts val="1400"/>
              <a:buFont typeface="Arial"/>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05" name="Shape 305"/>
        <p:cNvGrpSpPr/>
        <p:nvPr/>
      </p:nvGrpSpPr>
      <p:grpSpPr>
        <a:xfrm>
          <a:off x="0" y="0"/>
          <a:ext cx="0" cy="0"/>
          <a:chOff x="0" y="0"/>
          <a:chExt cx="0" cy="0"/>
        </a:xfrm>
      </p:grpSpPr>
      <p:sp>
        <p:nvSpPr>
          <p:cNvPr id="306" name="Google Shape;306;g32c3cf94e98_6_73"/>
          <p:cNvSpPr txBox="1"/>
          <p:nvPr/>
        </p:nvSpPr>
        <p:spPr>
          <a:xfrm>
            <a:off x="601650" y="477550"/>
            <a:ext cx="8542500" cy="55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300"/>
              <a:t>4.2 Begriffshäufigkeit - Inverse Dokumenthäufigkeit (TF-IDF)</a:t>
            </a:r>
            <a:endParaRPr sz="2300"/>
          </a:p>
          <a:p>
            <a:pPr indent="0" lvl="0" marL="0" marR="0" rtl="0" algn="l">
              <a:lnSpc>
                <a:spcPct val="100000"/>
              </a:lnSpc>
              <a:spcBef>
                <a:spcPts val="1200"/>
              </a:spcBef>
              <a:spcAft>
                <a:spcPts val="0"/>
              </a:spcAft>
              <a:buClr>
                <a:srgbClr val="000000"/>
              </a:buClr>
              <a:buSzPts val="2300"/>
              <a:buFont typeface="Arial"/>
              <a:buNone/>
            </a:pPr>
            <a:r>
              <a:t/>
            </a:r>
            <a:endParaRPr sz="2300"/>
          </a:p>
        </p:txBody>
      </p:sp>
      <p:sp>
        <p:nvSpPr>
          <p:cNvPr id="307" name="Google Shape;307;g32c3cf94e98_6_73"/>
          <p:cNvSpPr txBox="1"/>
          <p:nvPr/>
        </p:nvSpPr>
        <p:spPr>
          <a:xfrm>
            <a:off x="612175" y="1192775"/>
            <a:ext cx="7794000" cy="339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solidFill>
                  <a:schemeClr val="dk1"/>
                </a:solidFill>
              </a:rPr>
              <a:t>Term Frequency-Inverse Document Frequency (TF-IDF) ist eine statistische Maßzahl, die die Bedeutung eines Wortes in einem Dokument im Verhältnis zu einem gesamten Korpus bewertet.</a:t>
            </a:r>
            <a:br>
              <a:rPr lang="en-US" sz="1100">
                <a:solidFill>
                  <a:schemeClr val="dk1"/>
                </a:solidFill>
              </a:rPr>
            </a:br>
            <a:r>
              <a:rPr lang="en-US" sz="1100">
                <a:solidFill>
                  <a:schemeClr val="dk1"/>
                </a:solidFill>
              </a:rPr>
              <a:t> Sie balanciert die Häufigkeit eines Wortes in einem bestimmten Dokument (Term Frequency) mit seiner Häufigkeit über alle Dokumente hinweg (Inverse Document Frequency). Dadurch werden Wörter hervorgehoben, die mehr informative Aussagekraft besitzen, während häufige, wenig aussagekräftige Begriffe abgewertet werden.</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Bestandteile von TF-IDF:</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Term Frequency (TF):</a:t>
            </a:r>
            <a:r>
              <a:rPr lang="en-US" sz="1100">
                <a:solidFill>
                  <a:schemeClr val="dk1"/>
                </a:solidFill>
              </a:rPr>
              <a:t> Die Anzahl, wie oft ein Begriff in einem Dokument vorkommt, geteilt durch die Gesamtanzahl der Begriffe im Dokument. Sie zeigt, wie häufig ein Wort in einem bestimmten Text erscheint.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Inverse Document Frequency (IDF):</a:t>
            </a:r>
            <a:r>
              <a:rPr lang="en-US" sz="1100">
                <a:solidFill>
                  <a:schemeClr val="dk1"/>
                </a:solidFill>
              </a:rPr>
              <a:t> Ein Maß dafür, wie viel Information ein Wort liefert, berechnet als Logarithmus aus der Gesamtanzahl der Dokumente geteilt durch die Anzahl der Dokumente, die den Begriff enthalten. Sie reflektiert die Bedeutung eines Begriffs im gesamten Korpus.</a:t>
            </a:r>
            <a:br>
              <a:rPr lang="en-US" sz="1100">
                <a:solidFill>
                  <a:schemeClr val="dk1"/>
                </a:solidFill>
              </a:rPr>
            </a:br>
            <a:endParaRPr sz="1100">
              <a:solidFill>
                <a:schemeClr val="dk1"/>
              </a:solidFill>
            </a:endParaRPr>
          </a:p>
          <a:p>
            <a:pPr indent="0" lvl="0" marL="0" marR="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12" name="Shape 312"/>
        <p:cNvGrpSpPr/>
        <p:nvPr/>
      </p:nvGrpSpPr>
      <p:grpSpPr>
        <a:xfrm>
          <a:off x="0" y="0"/>
          <a:ext cx="0" cy="0"/>
          <a:chOff x="0" y="0"/>
          <a:chExt cx="0" cy="0"/>
        </a:xfrm>
      </p:grpSpPr>
      <p:sp>
        <p:nvSpPr>
          <p:cNvPr id="313" name="Google Shape;313;g2e63b4b50a3_0_281"/>
          <p:cNvSpPr txBox="1"/>
          <p:nvPr/>
        </p:nvSpPr>
        <p:spPr>
          <a:xfrm>
            <a:off x="463625" y="256675"/>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Term Frequency (TF)</a:t>
            </a:r>
            <a:endParaRPr b="0" i="0" sz="2300" u="none" cap="none" strike="noStrike">
              <a:solidFill>
                <a:srgbClr val="000000"/>
              </a:solidFill>
              <a:latin typeface="Arial"/>
              <a:ea typeface="Arial"/>
              <a:cs typeface="Arial"/>
              <a:sym typeface="Arial"/>
            </a:endParaRPr>
          </a:p>
        </p:txBody>
      </p:sp>
      <p:sp>
        <p:nvSpPr>
          <p:cNvPr id="314" name="Google Shape;314;g2e63b4b50a3_0_281"/>
          <p:cNvSpPr txBox="1"/>
          <p:nvPr/>
        </p:nvSpPr>
        <p:spPr>
          <a:xfrm>
            <a:off x="875125" y="1192775"/>
            <a:ext cx="7530900" cy="140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br>
              <a:rPr b="1" lang="en-US" sz="1100">
                <a:solidFill>
                  <a:schemeClr val="dk1"/>
                </a:solidFill>
              </a:rPr>
            </a:br>
            <a:r>
              <a:rPr lang="en-US" sz="1100">
                <a:solidFill>
                  <a:schemeClr val="dk1"/>
                </a:solidFill>
              </a:rPr>
              <a:t>TF misst, wie häufig ein Begriff in einem Dokument vorkommt.</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US" sz="1100">
                <a:solidFill>
                  <a:schemeClr val="dk1"/>
                </a:solidFill>
              </a:rPr>
              <a:t>Intuition hinter TF:</a:t>
            </a:r>
            <a:br>
              <a:rPr b="1" lang="en-US" sz="1100">
                <a:solidFill>
                  <a:schemeClr val="dk1"/>
                </a:solidFill>
              </a:rPr>
            </a:br>
            <a:r>
              <a:rPr lang="en-US" sz="1100">
                <a:solidFill>
                  <a:schemeClr val="dk1"/>
                </a:solidFill>
              </a:rPr>
              <a:t>Angenommen, wir haben folgendes Beispiel:</a:t>
            </a:r>
            <a:endParaRPr sz="1100">
              <a:solidFill>
                <a:schemeClr val="dk1"/>
              </a:solidFill>
            </a:endParaRPr>
          </a:p>
        </p:txBody>
      </p:sp>
      <p:pic>
        <p:nvPicPr>
          <p:cNvPr id="315" name="Google Shape;315;g2e63b4b50a3_0_281"/>
          <p:cNvPicPr preferRelativeResize="0"/>
          <p:nvPr/>
        </p:nvPicPr>
        <p:blipFill rotWithShape="1">
          <a:blip r:embed="rId3">
            <a:alphaModFix/>
          </a:blip>
          <a:srcRect b="0" l="0" r="0" t="0"/>
          <a:stretch/>
        </p:blipFill>
        <p:spPr>
          <a:xfrm>
            <a:off x="1294450" y="2751000"/>
            <a:ext cx="6124575" cy="2057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20" name="Shape 320"/>
        <p:cNvGrpSpPr/>
        <p:nvPr/>
      </p:nvGrpSpPr>
      <p:grpSpPr>
        <a:xfrm>
          <a:off x="0" y="0"/>
          <a:ext cx="0" cy="0"/>
          <a:chOff x="0" y="0"/>
          <a:chExt cx="0" cy="0"/>
        </a:xfrm>
      </p:grpSpPr>
      <p:sp>
        <p:nvSpPr>
          <p:cNvPr id="321" name="Google Shape;321;g2e63b4b50a3_0_289"/>
          <p:cNvSpPr txBox="1"/>
          <p:nvPr/>
        </p:nvSpPr>
        <p:spPr>
          <a:xfrm>
            <a:off x="850900" y="960300"/>
            <a:ext cx="7530900" cy="140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solidFill>
                  <a:schemeClr val="dk1"/>
                </a:solidFill>
              </a:rPr>
              <a:t>Ist das Wort „economy“ in diesem Beispiel wichtig?</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Das Wort „economy“ und seine lemmatisierten Formen wurden 4 Mal verwendet.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Kann man also sagen, dass „economy“ eine wichtige Rolle in diesem Text spielt?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Genau hier kommt die Term Frequency (TF) ins Spiel.</a:t>
            </a:r>
            <a:endParaRPr b="1" sz="1100">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1" sz="1100">
              <a:solidFill>
                <a:schemeClr val="dk1"/>
              </a:solidFill>
            </a:endParaRPr>
          </a:p>
        </p:txBody>
      </p:sp>
      <p:pic>
        <p:nvPicPr>
          <p:cNvPr id="322" name="Google Shape;322;g2e63b4b50a3_0_289"/>
          <p:cNvPicPr preferRelativeResize="0"/>
          <p:nvPr/>
        </p:nvPicPr>
        <p:blipFill rotWithShape="1">
          <a:blip r:embed="rId3">
            <a:alphaModFix/>
          </a:blip>
          <a:srcRect b="0" l="0" r="0" t="0"/>
          <a:stretch/>
        </p:blipFill>
        <p:spPr>
          <a:xfrm>
            <a:off x="1294450" y="2751000"/>
            <a:ext cx="6124575" cy="2057400"/>
          </a:xfrm>
          <a:prstGeom prst="rect">
            <a:avLst/>
          </a:prstGeom>
          <a:noFill/>
          <a:ln>
            <a:noFill/>
          </a:ln>
        </p:spPr>
      </p:pic>
      <p:sp>
        <p:nvSpPr>
          <p:cNvPr id="323" name="Google Shape;323;g2e63b4b50a3_0_289"/>
          <p:cNvSpPr txBox="1"/>
          <p:nvPr/>
        </p:nvSpPr>
        <p:spPr>
          <a:xfrm>
            <a:off x="228600" y="304800"/>
            <a:ext cx="3000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Term Frequency (TF)</a:t>
            </a:r>
            <a:endParaRPr b="0" i="0" sz="23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28" name="Shape 328"/>
        <p:cNvGrpSpPr/>
        <p:nvPr/>
      </p:nvGrpSpPr>
      <p:grpSpPr>
        <a:xfrm>
          <a:off x="0" y="0"/>
          <a:ext cx="0" cy="0"/>
          <a:chOff x="0" y="0"/>
          <a:chExt cx="0" cy="0"/>
        </a:xfrm>
      </p:grpSpPr>
      <p:sp>
        <p:nvSpPr>
          <p:cNvPr id="329" name="Google Shape;329;g2e63b4b50a3_0_323"/>
          <p:cNvSpPr txBox="1"/>
          <p:nvPr/>
        </p:nvSpPr>
        <p:spPr>
          <a:xfrm>
            <a:off x="875125" y="1192775"/>
            <a:ext cx="7530900" cy="259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Formel für Term Frequency (TF)</a:t>
            </a:r>
            <a:br>
              <a:rPr lang="en-US" sz="1100">
                <a:solidFill>
                  <a:schemeClr val="dk1"/>
                </a:solidFill>
              </a:rPr>
            </a:br>
            <a:r>
              <a:rPr lang="en-US" sz="1100">
                <a:solidFill>
                  <a:schemeClr val="dk1"/>
                </a:solidFill>
              </a:rPr>
              <a:t> TF(t, d) = (Anzahl der Vorkommen des Terms t im Dokument d) / (Gesamtanzahl der Terme im Dokument d)</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Jeder Term in einer Stichprobe erhält ein TF-Gewicht.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Diese Gewichte helfen uns, die Bedeutung eines Wortes innerhalb eines bestimmten Dokuments zu bestimmen.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Diese Gewichte werden wir im praktischen Teil selbst berechnen.</a:t>
            </a:r>
            <a:endParaRPr b="1" sz="1100">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1" sz="1100">
              <a:solidFill>
                <a:schemeClr val="dk1"/>
              </a:solidFill>
            </a:endParaRPr>
          </a:p>
        </p:txBody>
      </p:sp>
      <p:sp>
        <p:nvSpPr>
          <p:cNvPr id="330" name="Google Shape;330;g2e63b4b50a3_0_323"/>
          <p:cNvSpPr txBox="1"/>
          <p:nvPr/>
        </p:nvSpPr>
        <p:spPr>
          <a:xfrm>
            <a:off x="228600" y="304800"/>
            <a:ext cx="3000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Term Frequency (TF)</a:t>
            </a:r>
            <a:endParaRPr b="0" i="0" sz="23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35" name="Shape 335"/>
        <p:cNvGrpSpPr/>
        <p:nvPr/>
      </p:nvGrpSpPr>
      <p:grpSpPr>
        <a:xfrm>
          <a:off x="0" y="0"/>
          <a:ext cx="0" cy="0"/>
          <a:chOff x="0" y="0"/>
          <a:chExt cx="0" cy="0"/>
        </a:xfrm>
      </p:grpSpPr>
      <p:sp>
        <p:nvSpPr>
          <p:cNvPr id="336" name="Google Shape;336;g2e63b4b50a3_0_297"/>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lang="en-US" sz="2300"/>
              <a:t>Herausforderungen der TF</a:t>
            </a:r>
            <a:endParaRPr b="0" i="0" sz="2300" u="none" cap="none" strike="noStrike">
              <a:solidFill>
                <a:srgbClr val="000000"/>
              </a:solidFill>
              <a:latin typeface="Arial"/>
              <a:ea typeface="Arial"/>
              <a:cs typeface="Arial"/>
              <a:sym typeface="Arial"/>
            </a:endParaRPr>
          </a:p>
        </p:txBody>
      </p:sp>
      <p:sp>
        <p:nvSpPr>
          <p:cNvPr id="337" name="Google Shape;337;g2e63b4b50a3_0_297"/>
          <p:cNvSpPr txBox="1"/>
          <p:nvPr/>
        </p:nvSpPr>
        <p:spPr>
          <a:xfrm>
            <a:off x="706825" y="1192775"/>
            <a:ext cx="7857300" cy="126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Angenommen, wir haben jetzt folgenden Datensatz:</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Das Wort „economy“ kommt in jeder Stichprobe mehrfach vor.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Können wir trotzdem noch sagen, dass das Wort „economy“ wichtig ist?</a:t>
            </a:r>
            <a:endParaRPr b="1" sz="1100">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1" sz="1100">
              <a:solidFill>
                <a:schemeClr val="dk1"/>
              </a:solidFill>
            </a:endParaRPr>
          </a:p>
        </p:txBody>
      </p:sp>
      <p:pic>
        <p:nvPicPr>
          <p:cNvPr id="338" name="Google Shape;338;g2e63b4b50a3_0_297"/>
          <p:cNvPicPr preferRelativeResize="0"/>
          <p:nvPr/>
        </p:nvPicPr>
        <p:blipFill rotWithShape="1">
          <a:blip r:embed="rId3">
            <a:alphaModFix/>
          </a:blip>
          <a:srcRect b="0" l="0" r="0" t="0"/>
          <a:stretch/>
        </p:blipFill>
        <p:spPr>
          <a:xfrm>
            <a:off x="1905175" y="2764200"/>
            <a:ext cx="4933950" cy="20764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43" name="Shape 343"/>
        <p:cNvGrpSpPr/>
        <p:nvPr/>
      </p:nvGrpSpPr>
      <p:grpSpPr>
        <a:xfrm>
          <a:off x="0" y="0"/>
          <a:ext cx="0" cy="0"/>
          <a:chOff x="0" y="0"/>
          <a:chExt cx="0" cy="0"/>
        </a:xfrm>
      </p:grpSpPr>
      <p:sp>
        <p:nvSpPr>
          <p:cNvPr id="344" name="Google Shape;344;g2e63b4b50a3_0_307"/>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300"/>
              <a:buFont typeface="Arial"/>
              <a:buNone/>
            </a:pPr>
            <a:r>
              <a:rPr lang="en-US" sz="2300">
                <a:solidFill>
                  <a:schemeClr val="dk1"/>
                </a:solidFill>
              </a:rPr>
              <a:t>Herausforderungen der TF</a:t>
            </a:r>
            <a:endParaRPr sz="2300">
              <a:solidFill>
                <a:schemeClr val="dk1"/>
              </a:solidFill>
            </a:endParaRPr>
          </a:p>
          <a:p>
            <a:pPr indent="0" lvl="0" marL="0" marR="0" rtl="0" algn="l">
              <a:lnSpc>
                <a:spcPct val="100000"/>
              </a:lnSpc>
              <a:spcBef>
                <a:spcPts val="0"/>
              </a:spcBef>
              <a:spcAft>
                <a:spcPts val="0"/>
              </a:spcAft>
              <a:buClr>
                <a:srgbClr val="000000"/>
              </a:buClr>
              <a:buSzPts val="2300"/>
              <a:buFont typeface="Arial"/>
              <a:buNone/>
            </a:pPr>
            <a:r>
              <a:t/>
            </a:r>
            <a:endParaRPr sz="2300"/>
          </a:p>
        </p:txBody>
      </p:sp>
      <p:sp>
        <p:nvSpPr>
          <p:cNvPr id="345" name="Google Shape;345;g2e63b4b50a3_0_307"/>
          <p:cNvSpPr txBox="1"/>
          <p:nvPr/>
        </p:nvSpPr>
        <p:spPr>
          <a:xfrm>
            <a:off x="706825" y="1192775"/>
            <a:ext cx="7857300" cy="126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Wenn ein Wort in jedem Dokument wiederholt vorkommt, ist es NICHT besonders wichtig, </a:t>
            </a:r>
            <a:r>
              <a:rPr lang="en-US" sz="1100">
                <a:solidFill>
                  <a:schemeClr val="dk1"/>
                </a:solidFill>
              </a:rPr>
              <a:t>da es zu allgemein verbreitet ist.</a:t>
            </a:r>
            <a:br>
              <a:rPr lang="en-US" sz="1100">
                <a:solidFill>
                  <a:schemeClr val="dk1"/>
                </a:solidFill>
              </a:rPr>
            </a:br>
            <a:r>
              <a:rPr lang="en-US" sz="1100">
                <a:solidFill>
                  <a:schemeClr val="dk1"/>
                </a:solidFill>
              </a:rPr>
              <a:t>Es sagt wenig über ein spezielles Dokument aus, weil es in allen Dokumenten vorkommt.</a:t>
            </a:r>
            <a:br>
              <a:rPr lang="en-US" sz="1100">
                <a:solidFill>
                  <a:schemeClr val="dk1"/>
                </a:solidFill>
              </a:rPr>
            </a:br>
            <a:r>
              <a:rPr b="1" lang="en-US" sz="1100">
                <a:solidFill>
                  <a:schemeClr val="dk1"/>
                </a:solidFill>
              </a:rPr>
              <a:t>Wichtig ist ein Wort nur dann, wenn es in einem oder wenigen Dokumenten häufig auftritt.</a:t>
            </a:r>
            <a:endParaRPr b="1" sz="1100">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sz="1100">
              <a:solidFill>
                <a:schemeClr val="dk1"/>
              </a:solidFill>
            </a:endParaRPr>
          </a:p>
        </p:txBody>
      </p:sp>
      <p:pic>
        <p:nvPicPr>
          <p:cNvPr id="346" name="Google Shape;346;g2e63b4b50a3_0_307"/>
          <p:cNvPicPr preferRelativeResize="0"/>
          <p:nvPr/>
        </p:nvPicPr>
        <p:blipFill rotWithShape="1">
          <a:blip r:embed="rId3">
            <a:alphaModFix/>
          </a:blip>
          <a:srcRect b="0" l="0" r="0" t="0"/>
          <a:stretch/>
        </p:blipFill>
        <p:spPr>
          <a:xfrm>
            <a:off x="1926225" y="2785250"/>
            <a:ext cx="4933950" cy="2076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51" name="Shape 351"/>
        <p:cNvGrpSpPr/>
        <p:nvPr/>
      </p:nvGrpSpPr>
      <p:grpSpPr>
        <a:xfrm>
          <a:off x="0" y="0"/>
          <a:ext cx="0" cy="0"/>
          <a:chOff x="0" y="0"/>
          <a:chExt cx="0" cy="0"/>
        </a:xfrm>
      </p:grpSpPr>
      <p:sp>
        <p:nvSpPr>
          <p:cNvPr id="352" name="Google Shape;352;g2e63b4b50a3_0_315"/>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300" u="none" cap="none" strike="noStrike">
                <a:solidFill>
                  <a:schemeClr val="dk1"/>
                </a:solidFill>
                <a:latin typeface="Arial"/>
                <a:ea typeface="Arial"/>
                <a:cs typeface="Arial"/>
                <a:sym typeface="Arial"/>
              </a:rPr>
              <a:t>Inverse Document Frequency (IDF)</a:t>
            </a:r>
            <a:endParaRPr b="0" i="0" sz="2300" u="none" cap="none" strike="noStrike">
              <a:solidFill>
                <a:srgbClr val="000000"/>
              </a:solidFill>
              <a:latin typeface="Arial"/>
              <a:ea typeface="Arial"/>
              <a:cs typeface="Arial"/>
              <a:sym typeface="Arial"/>
            </a:endParaRPr>
          </a:p>
        </p:txBody>
      </p:sp>
      <p:sp>
        <p:nvSpPr>
          <p:cNvPr id="353" name="Google Shape;353;g2e63b4b50a3_0_315"/>
          <p:cNvSpPr txBox="1"/>
          <p:nvPr/>
        </p:nvSpPr>
        <p:spPr>
          <a:xfrm>
            <a:off x="706825" y="1192775"/>
            <a:ext cx="7857300" cy="189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Die Schwächen von TF machen es notwendig, auch die IDF (Inverse Document Frequency) zu betrachten.</a:t>
            </a:r>
            <a:br>
              <a:rPr lang="en-US" sz="1100">
                <a:solidFill>
                  <a:schemeClr val="dk1"/>
                </a:solidFill>
              </a:rPr>
            </a:br>
            <a:r>
              <a:rPr lang="en-US" sz="1100">
                <a:solidFill>
                  <a:schemeClr val="dk1"/>
                </a:solidFill>
              </a:rPr>
              <a:t>Betrachte folgenden Datensatz:</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Das Wort „politic“ wurde im ersten Dokument 3 Mal verwendet, aber in den anderen Dokumenten gar nicht.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Deshalb muss es für das erste Dokument eine besondere Bedeutung haben.</a:t>
            </a:r>
            <a:endParaRPr sz="1100">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sz="1100">
              <a:solidFill>
                <a:schemeClr val="dk1"/>
              </a:solidFill>
            </a:endParaRPr>
          </a:p>
        </p:txBody>
      </p:sp>
      <p:pic>
        <p:nvPicPr>
          <p:cNvPr id="354" name="Google Shape;354;g2e63b4b50a3_0_315"/>
          <p:cNvPicPr preferRelativeResize="0"/>
          <p:nvPr/>
        </p:nvPicPr>
        <p:blipFill rotWithShape="1">
          <a:blip r:embed="rId3">
            <a:alphaModFix/>
          </a:blip>
          <a:srcRect b="0" l="0" r="0" t="0"/>
          <a:stretch/>
        </p:blipFill>
        <p:spPr>
          <a:xfrm>
            <a:off x="262063" y="3207075"/>
            <a:ext cx="8746827" cy="13200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59" name="Shape 359"/>
        <p:cNvGrpSpPr/>
        <p:nvPr/>
      </p:nvGrpSpPr>
      <p:grpSpPr>
        <a:xfrm>
          <a:off x="0" y="0"/>
          <a:ext cx="0" cy="0"/>
          <a:chOff x="0" y="0"/>
          <a:chExt cx="0" cy="0"/>
        </a:xfrm>
      </p:grpSpPr>
      <p:sp>
        <p:nvSpPr>
          <p:cNvPr id="360" name="Google Shape;360;g2e63b4b50a3_0_333"/>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300" u="none" cap="none" strike="noStrike">
                <a:solidFill>
                  <a:schemeClr val="dk1"/>
                </a:solidFill>
                <a:latin typeface="Arial"/>
                <a:ea typeface="Arial"/>
                <a:cs typeface="Arial"/>
                <a:sym typeface="Arial"/>
              </a:rPr>
              <a:t>Inverse Document Frequency (IDF)</a:t>
            </a:r>
            <a:endParaRPr b="0" i="0" sz="2300" u="none" cap="none" strike="noStrike">
              <a:solidFill>
                <a:srgbClr val="000000"/>
              </a:solidFill>
              <a:latin typeface="Arial"/>
              <a:ea typeface="Arial"/>
              <a:cs typeface="Arial"/>
              <a:sym typeface="Arial"/>
            </a:endParaRPr>
          </a:p>
        </p:txBody>
      </p:sp>
      <p:sp>
        <p:nvSpPr>
          <p:cNvPr id="361" name="Google Shape;361;g2e63b4b50a3_0_333"/>
          <p:cNvSpPr txBox="1"/>
          <p:nvPr/>
        </p:nvSpPr>
        <p:spPr>
          <a:xfrm>
            <a:off x="643350" y="1034950"/>
            <a:ext cx="7857300" cy="209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Wie können wir die allgemeine Bedeutung von „politic“ darstellen?</a:t>
            </a:r>
            <a:endParaRPr b="1"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rPr b="1" lang="en-US" sz="1100">
                <a:solidFill>
                  <a:schemeClr val="dk1"/>
                </a:solidFill>
              </a:rPr>
              <a:t>IDF (Inverse Document Frequency) wird definiert als:</a:t>
            </a:r>
            <a:endParaRPr b="1"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IDF(t) = log( N / df(t)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N </a:t>
            </a:r>
            <a:r>
              <a:rPr lang="en-US" sz="1100">
                <a:solidFill>
                  <a:schemeClr val="dk1"/>
                </a:solidFill>
              </a:rPr>
              <a:t>die Gesamtanzahl der Dokumente im Korpus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df(t) </a:t>
            </a:r>
            <a:r>
              <a:rPr lang="en-US" sz="1100">
                <a:solidFill>
                  <a:schemeClr val="dk1"/>
                </a:solidFill>
              </a:rPr>
              <a:t>die Dokumentenhäufigkeit, also die Anzahl der Dokumente, die den Term „t“ enthalten.</a:t>
            </a:r>
            <a:endParaRPr sz="1100">
              <a:solidFill>
                <a:schemeClr val="dk1"/>
              </a:solidFill>
            </a:endParaRPr>
          </a:p>
          <a:p>
            <a:pPr indent="0" lvl="0" marL="457200" marR="0" rtl="0" algn="l">
              <a:lnSpc>
                <a:spcPct val="115000"/>
              </a:lnSpc>
              <a:spcBef>
                <a:spcPts val="0"/>
              </a:spcBef>
              <a:spcAft>
                <a:spcPts val="0"/>
              </a:spcAft>
              <a:buNone/>
            </a:pPr>
            <a:r>
              <a:t/>
            </a:r>
            <a:endParaRPr sz="1100">
              <a:solidFill>
                <a:schemeClr val="dk1"/>
              </a:solidFil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2" name="Google Shape;362;g2e63b4b50a3_0_333"/>
          <p:cNvPicPr preferRelativeResize="0"/>
          <p:nvPr/>
        </p:nvPicPr>
        <p:blipFill rotWithShape="1">
          <a:blip r:embed="rId3">
            <a:alphaModFix/>
          </a:blip>
          <a:srcRect b="0" l="0" r="0" t="0"/>
          <a:stretch/>
        </p:blipFill>
        <p:spPr>
          <a:xfrm>
            <a:off x="262063" y="3207075"/>
            <a:ext cx="8746827" cy="13200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67" name="Shape 367"/>
        <p:cNvGrpSpPr/>
        <p:nvPr/>
      </p:nvGrpSpPr>
      <p:grpSpPr>
        <a:xfrm>
          <a:off x="0" y="0"/>
          <a:ext cx="0" cy="0"/>
          <a:chOff x="0" y="0"/>
          <a:chExt cx="0" cy="0"/>
        </a:xfrm>
      </p:grpSpPr>
      <p:sp>
        <p:nvSpPr>
          <p:cNvPr id="368" name="Google Shape;368;g2e63b4b50a3_0_343"/>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300" u="none" cap="none" strike="noStrike">
                <a:solidFill>
                  <a:schemeClr val="dk1"/>
                </a:solidFill>
                <a:latin typeface="Arial"/>
                <a:ea typeface="Arial"/>
                <a:cs typeface="Arial"/>
                <a:sym typeface="Arial"/>
              </a:rPr>
              <a:t>Inverse Document Frequency (IDF)</a:t>
            </a:r>
            <a:endParaRPr b="0" i="0" sz="2300" u="none" cap="none" strike="noStrike">
              <a:solidFill>
                <a:srgbClr val="000000"/>
              </a:solidFill>
              <a:latin typeface="Arial"/>
              <a:ea typeface="Arial"/>
              <a:cs typeface="Arial"/>
              <a:sym typeface="Arial"/>
            </a:endParaRPr>
          </a:p>
        </p:txBody>
      </p:sp>
      <p:sp>
        <p:nvSpPr>
          <p:cNvPr id="369" name="Google Shape;369;g2e63b4b50a3_0_343"/>
          <p:cNvSpPr txBox="1"/>
          <p:nvPr/>
        </p:nvSpPr>
        <p:spPr>
          <a:xfrm>
            <a:off x="469500" y="1231525"/>
            <a:ext cx="7857300" cy="18906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IDF(t) = log( N / df(t)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Wobei:</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N</a:t>
            </a:r>
            <a:r>
              <a:rPr b="0" i="0" lang="en-US" sz="1100" u="none" cap="none" strike="noStrike">
                <a:solidFill>
                  <a:schemeClr val="dk1"/>
                </a:solidFill>
                <a:latin typeface="Arial"/>
                <a:ea typeface="Arial"/>
                <a:cs typeface="Arial"/>
                <a:sym typeface="Arial"/>
              </a:rPr>
              <a:t> </a:t>
            </a:r>
            <a:r>
              <a:rPr lang="en-US" sz="1100">
                <a:solidFill>
                  <a:schemeClr val="dk1"/>
                </a:solidFill>
              </a:rPr>
              <a:t>ist die Gesamtanzahl der Dokumente im Korpus.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df(t)</a:t>
            </a:r>
            <a:r>
              <a:rPr b="0" i="0" lang="en-US" sz="1100" u="none" cap="none" strike="noStrike">
                <a:solidFill>
                  <a:schemeClr val="dk1"/>
                </a:solidFill>
                <a:latin typeface="Arial"/>
                <a:ea typeface="Arial"/>
                <a:cs typeface="Arial"/>
                <a:sym typeface="Arial"/>
              </a:rPr>
              <a:t> </a:t>
            </a:r>
            <a:r>
              <a:rPr lang="en-US" sz="1100">
                <a:solidFill>
                  <a:schemeClr val="dk1"/>
                </a:solidFill>
              </a:rPr>
              <a:t>ist die Dokumentenhäufigkeit und gibt an, in wie vielen Dokumenten der Begriff „t“ vorkommt.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0" name="Google Shape;370;g2e63b4b50a3_0_343"/>
          <p:cNvPicPr preferRelativeResize="0"/>
          <p:nvPr/>
        </p:nvPicPr>
        <p:blipFill rotWithShape="1">
          <a:blip r:embed="rId3">
            <a:alphaModFix/>
          </a:blip>
          <a:srcRect b="0" l="0" r="0" t="0"/>
          <a:stretch/>
        </p:blipFill>
        <p:spPr>
          <a:xfrm>
            <a:off x="262063" y="3207075"/>
            <a:ext cx="8746827" cy="13200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1">
            <a:alpha val="20000"/>
          </a:srgbClr>
        </a:solidFill>
      </p:bgPr>
    </p:bg>
    <p:spTree>
      <p:nvGrpSpPr>
        <p:cNvPr id="375" name="Shape 375"/>
        <p:cNvGrpSpPr/>
        <p:nvPr/>
      </p:nvGrpSpPr>
      <p:grpSpPr>
        <a:xfrm>
          <a:off x="0" y="0"/>
          <a:ext cx="0" cy="0"/>
          <a:chOff x="0" y="0"/>
          <a:chExt cx="0" cy="0"/>
        </a:xfrm>
      </p:grpSpPr>
      <p:sp>
        <p:nvSpPr>
          <p:cNvPr id="376" name="Google Shape;376;g2e63b4b50a3_0_351"/>
          <p:cNvSpPr txBox="1"/>
          <p:nvPr/>
        </p:nvSpPr>
        <p:spPr>
          <a:xfrm>
            <a:off x="601650" y="477550"/>
            <a:ext cx="6479400" cy="55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TF-IDF</a:t>
            </a:r>
            <a:endParaRPr b="0" i="0" sz="2300" u="none" cap="none" strike="noStrike">
              <a:solidFill>
                <a:srgbClr val="000000"/>
              </a:solidFill>
              <a:latin typeface="Arial"/>
              <a:ea typeface="Arial"/>
              <a:cs typeface="Arial"/>
              <a:sym typeface="Arial"/>
            </a:endParaRPr>
          </a:p>
        </p:txBody>
      </p:sp>
      <p:sp>
        <p:nvSpPr>
          <p:cNvPr id="377" name="Google Shape;377;g2e63b4b50a3_0_351"/>
          <p:cNvSpPr txBox="1"/>
          <p:nvPr/>
        </p:nvSpPr>
        <p:spPr>
          <a:xfrm>
            <a:off x="706825" y="1192775"/>
            <a:ext cx="7857300" cy="31977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TF (Term Frequency):</a:t>
            </a:r>
            <a:endParaRPr b="1" i="0" sz="1100" u="none" cap="none" strike="noStrike">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Misst die Bedeutung eines Begriffs innerhalb eines einzelnen Dokuments (Samples).</a:t>
            </a:r>
            <a:br>
              <a:rPr lang="en-US" sz="1100">
                <a:solidFill>
                  <a:schemeClr val="dk1"/>
                </a:solidFill>
              </a:rPr>
            </a:br>
            <a:r>
              <a:rPr lang="en-US" sz="1100">
                <a:solidFill>
                  <a:schemeClr val="dk1"/>
                </a:solidFill>
              </a:rPr>
              <a:t> Beantwortet die Frage: Wie oft kommt der Begriff in diesem Dokument vor?</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IDF (Inverse Document Frequency):</a:t>
            </a:r>
            <a:endParaRPr b="1" i="0" sz="1100" u="none" cap="none" strike="noStrike">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Misst die Bedeutung eines Begriffs im gesamten Korpus.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Beantwortet die Frage: Wie einzigartig oder selten ist der Begriff im Korpus?</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TF-IDF:</a:t>
            </a:r>
            <a:endParaRPr b="1" i="0" sz="1100" u="none" cap="none" strike="noStrike">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Das Produkt aus TF und IDF, das sowohl die lokale Bedeutung (innerhalb des Dokuments) als auch die globale Bedeutung (im gesamten Korpus) vereint.</a:t>
            </a:r>
            <a:endParaRPr sz="1100">
              <a:solidFill>
                <a:schemeClr val="dk1"/>
              </a:solidFil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TF-IDF = TF * IDF</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